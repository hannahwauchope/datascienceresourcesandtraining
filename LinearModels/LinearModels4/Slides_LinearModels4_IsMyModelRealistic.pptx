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8"/>
  </p:notesMasterIdLst>
  <p:sldIdLst>
    <p:sldId id="257" r:id="rId2"/>
    <p:sldId id="671" r:id="rId3"/>
    <p:sldId id="682" r:id="rId4"/>
    <p:sldId id="683" r:id="rId5"/>
    <p:sldId id="546" r:id="rId6"/>
    <p:sldId id="545" r:id="rId7"/>
    <p:sldId id="626" r:id="rId8"/>
    <p:sldId id="608" r:id="rId9"/>
    <p:sldId id="609" r:id="rId10"/>
    <p:sldId id="610" r:id="rId11"/>
    <p:sldId id="612" r:id="rId12"/>
    <p:sldId id="611" r:id="rId13"/>
    <p:sldId id="613" r:id="rId14"/>
    <p:sldId id="614" r:id="rId15"/>
    <p:sldId id="615" r:id="rId16"/>
    <p:sldId id="616" r:id="rId17"/>
    <p:sldId id="617" r:id="rId18"/>
    <p:sldId id="619" r:id="rId19"/>
    <p:sldId id="661" r:id="rId20"/>
    <p:sldId id="618" r:id="rId21"/>
    <p:sldId id="620" r:id="rId22"/>
    <p:sldId id="621" r:id="rId23"/>
    <p:sldId id="622" r:id="rId24"/>
    <p:sldId id="625" r:id="rId25"/>
    <p:sldId id="623" r:id="rId26"/>
    <p:sldId id="633" r:id="rId27"/>
    <p:sldId id="672" r:id="rId28"/>
    <p:sldId id="679" r:id="rId29"/>
    <p:sldId id="680" r:id="rId30"/>
    <p:sldId id="681" r:id="rId31"/>
    <p:sldId id="673" r:id="rId32"/>
    <p:sldId id="676" r:id="rId33"/>
    <p:sldId id="677" r:id="rId34"/>
    <p:sldId id="675" r:id="rId35"/>
    <p:sldId id="678" r:id="rId36"/>
    <p:sldId id="624" r:id="rId37"/>
    <p:sldId id="627" r:id="rId38"/>
    <p:sldId id="628" r:id="rId39"/>
    <p:sldId id="629" r:id="rId40"/>
    <p:sldId id="631" r:id="rId41"/>
    <p:sldId id="632" r:id="rId42"/>
    <p:sldId id="634" r:id="rId43"/>
    <p:sldId id="635" r:id="rId44"/>
    <p:sldId id="644" r:id="rId45"/>
    <p:sldId id="645" r:id="rId46"/>
    <p:sldId id="636" r:id="rId47"/>
    <p:sldId id="637" r:id="rId48"/>
    <p:sldId id="638" r:id="rId49"/>
    <p:sldId id="639" r:id="rId50"/>
    <p:sldId id="640" r:id="rId51"/>
    <p:sldId id="641" r:id="rId52"/>
    <p:sldId id="642" r:id="rId53"/>
    <p:sldId id="646" r:id="rId54"/>
    <p:sldId id="648" r:id="rId55"/>
    <p:sldId id="596" r:id="rId56"/>
    <p:sldId id="649" r:id="rId57"/>
    <p:sldId id="650" r:id="rId58"/>
    <p:sldId id="651" r:id="rId59"/>
    <p:sldId id="652" r:id="rId60"/>
    <p:sldId id="653" r:id="rId61"/>
    <p:sldId id="654" r:id="rId62"/>
    <p:sldId id="655" r:id="rId63"/>
    <p:sldId id="656" r:id="rId64"/>
    <p:sldId id="657" r:id="rId65"/>
    <p:sldId id="658" r:id="rId66"/>
    <p:sldId id="659" r:id="rId67"/>
    <p:sldId id="660" r:id="rId68"/>
    <p:sldId id="662" r:id="rId69"/>
    <p:sldId id="663" r:id="rId70"/>
    <p:sldId id="664" r:id="rId71"/>
    <p:sldId id="665" r:id="rId72"/>
    <p:sldId id="666" r:id="rId73"/>
    <p:sldId id="669" r:id="rId74"/>
    <p:sldId id="667" r:id="rId75"/>
    <p:sldId id="668" r:id="rId76"/>
    <p:sldId id="670"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5317"/>
    <a:srgbClr val="548235"/>
    <a:srgbClr val="C09100"/>
    <a:srgbClr val="EEB2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53"/>
    <p:restoredTop sz="95374"/>
  </p:normalViewPr>
  <p:slideViewPr>
    <p:cSldViewPr snapToGrid="0">
      <p:cViewPr varScale="1">
        <p:scale>
          <a:sx n="122" d="100"/>
          <a:sy n="122" d="100"/>
        </p:scale>
        <p:origin x="43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675D4-F5F7-9C49-94C0-FB829D1C6B90}" type="datetimeFigureOut">
              <a:rPr lang="en-US" smtClean="0"/>
              <a:t>11/7/25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E461AD-FDBE-8E4B-A15E-091E7AC08CD0}" type="slidenum">
              <a:rPr lang="en-US" smtClean="0"/>
              <a:t>‹#›</a:t>
            </a:fld>
            <a:endParaRPr lang="en-US"/>
          </a:p>
        </p:txBody>
      </p:sp>
    </p:spTree>
    <p:extLst>
      <p:ext uri="{BB962C8B-B14F-4D97-AF65-F5344CB8AC3E}">
        <p14:creationId xmlns:p14="http://schemas.microsoft.com/office/powerpoint/2010/main" val="70918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E461AD-FDBE-8E4B-A15E-091E7AC08CD0}" type="slidenum">
              <a:rPr lang="en-US" smtClean="0"/>
              <a:t>1</a:t>
            </a:fld>
            <a:endParaRPr lang="en-US"/>
          </a:p>
        </p:txBody>
      </p:sp>
    </p:spTree>
    <p:extLst>
      <p:ext uri="{BB962C8B-B14F-4D97-AF65-F5344CB8AC3E}">
        <p14:creationId xmlns:p14="http://schemas.microsoft.com/office/powerpoint/2010/main" val="3633305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4E461AD-FDBE-8E4B-A15E-091E7AC08CD0}" type="slidenum">
              <a:rPr lang="en-US" smtClean="0"/>
              <a:t>69</a:t>
            </a:fld>
            <a:endParaRPr lang="en-US"/>
          </a:p>
        </p:txBody>
      </p:sp>
    </p:spTree>
    <p:extLst>
      <p:ext uri="{BB962C8B-B14F-4D97-AF65-F5344CB8AC3E}">
        <p14:creationId xmlns:p14="http://schemas.microsoft.com/office/powerpoint/2010/main" val="863495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B12EA-3018-2DFF-EBAA-D45F64E7B7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AE41B2-5999-82D2-700B-E3C8333767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040CD5-8509-8F0D-FF25-657C8A79B51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B81CC24-7407-02AE-B571-1C5E4248B6A9}"/>
              </a:ext>
            </a:extLst>
          </p:cNvPr>
          <p:cNvSpPr>
            <a:spLocks noGrp="1"/>
          </p:cNvSpPr>
          <p:nvPr>
            <p:ph type="sldNum" sz="quarter" idx="5"/>
          </p:nvPr>
        </p:nvSpPr>
        <p:spPr/>
        <p:txBody>
          <a:bodyPr/>
          <a:lstStyle/>
          <a:p>
            <a:fld id="{B4E461AD-FDBE-8E4B-A15E-091E7AC08CD0}" type="slidenum">
              <a:rPr lang="en-US" smtClean="0"/>
              <a:t>70</a:t>
            </a:fld>
            <a:endParaRPr lang="en-US"/>
          </a:p>
        </p:txBody>
      </p:sp>
    </p:spTree>
    <p:extLst>
      <p:ext uri="{BB962C8B-B14F-4D97-AF65-F5344CB8AC3E}">
        <p14:creationId xmlns:p14="http://schemas.microsoft.com/office/powerpoint/2010/main" val="3699910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5DFDA-C185-21FD-28C6-15E2636DC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7A8050-7BB9-CBF7-682F-3B1E46FC34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61D821-BE3C-1F81-443E-DFA7B54F3A2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1833F28-0000-A892-61E2-F8E5A591A8F0}"/>
              </a:ext>
            </a:extLst>
          </p:cNvPr>
          <p:cNvSpPr>
            <a:spLocks noGrp="1"/>
          </p:cNvSpPr>
          <p:nvPr>
            <p:ph type="sldNum" sz="quarter" idx="5"/>
          </p:nvPr>
        </p:nvSpPr>
        <p:spPr/>
        <p:txBody>
          <a:bodyPr/>
          <a:lstStyle/>
          <a:p>
            <a:fld id="{B4E461AD-FDBE-8E4B-A15E-091E7AC08CD0}" type="slidenum">
              <a:rPr lang="en-US" smtClean="0"/>
              <a:t>71</a:t>
            </a:fld>
            <a:endParaRPr lang="en-US"/>
          </a:p>
        </p:txBody>
      </p:sp>
    </p:spTree>
    <p:extLst>
      <p:ext uri="{BB962C8B-B14F-4D97-AF65-F5344CB8AC3E}">
        <p14:creationId xmlns:p14="http://schemas.microsoft.com/office/powerpoint/2010/main" val="22711143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A2093-33E0-B7E5-8010-BA8808F9D7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72695-7D0C-C769-05F0-41CD91B7AA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83B0DA-B27D-4F83-6FB9-9C47B24CDBC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EAF405F-5520-C489-0F15-C844CAA70D70}"/>
              </a:ext>
            </a:extLst>
          </p:cNvPr>
          <p:cNvSpPr>
            <a:spLocks noGrp="1"/>
          </p:cNvSpPr>
          <p:nvPr>
            <p:ph type="sldNum" sz="quarter" idx="5"/>
          </p:nvPr>
        </p:nvSpPr>
        <p:spPr/>
        <p:txBody>
          <a:bodyPr/>
          <a:lstStyle/>
          <a:p>
            <a:fld id="{B4E461AD-FDBE-8E4B-A15E-091E7AC08CD0}" type="slidenum">
              <a:rPr lang="en-US" smtClean="0"/>
              <a:t>72</a:t>
            </a:fld>
            <a:endParaRPr lang="en-US"/>
          </a:p>
        </p:txBody>
      </p:sp>
    </p:spTree>
    <p:extLst>
      <p:ext uri="{BB962C8B-B14F-4D97-AF65-F5344CB8AC3E}">
        <p14:creationId xmlns:p14="http://schemas.microsoft.com/office/powerpoint/2010/main" val="2369639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913A5-004E-EC50-24D8-9F8F2F6042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4F80CD-C1E9-6994-00B1-AE193F9C6E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54B8E0-2B25-21CD-9E66-E98DF5CE86E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9C951CD-684B-FAC2-212E-881F7756D88F}"/>
              </a:ext>
            </a:extLst>
          </p:cNvPr>
          <p:cNvSpPr>
            <a:spLocks noGrp="1"/>
          </p:cNvSpPr>
          <p:nvPr>
            <p:ph type="sldNum" sz="quarter" idx="5"/>
          </p:nvPr>
        </p:nvSpPr>
        <p:spPr/>
        <p:txBody>
          <a:bodyPr/>
          <a:lstStyle/>
          <a:p>
            <a:fld id="{B4E461AD-FDBE-8E4B-A15E-091E7AC08CD0}" type="slidenum">
              <a:rPr lang="en-US" smtClean="0"/>
              <a:t>73</a:t>
            </a:fld>
            <a:endParaRPr lang="en-US"/>
          </a:p>
        </p:txBody>
      </p:sp>
    </p:spTree>
    <p:extLst>
      <p:ext uri="{BB962C8B-B14F-4D97-AF65-F5344CB8AC3E}">
        <p14:creationId xmlns:p14="http://schemas.microsoft.com/office/powerpoint/2010/main" val="2600417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20F76-55CB-4CDE-188E-FE078846CC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55F415-615E-650F-CCF3-B7BCFA78D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04B9C8-60EF-131E-6928-C0CFE739905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7B71305-ED86-9A79-AB97-05E2F235DBCB}"/>
              </a:ext>
            </a:extLst>
          </p:cNvPr>
          <p:cNvSpPr>
            <a:spLocks noGrp="1"/>
          </p:cNvSpPr>
          <p:nvPr>
            <p:ph type="sldNum" sz="quarter" idx="5"/>
          </p:nvPr>
        </p:nvSpPr>
        <p:spPr/>
        <p:txBody>
          <a:bodyPr/>
          <a:lstStyle/>
          <a:p>
            <a:fld id="{B4E461AD-FDBE-8E4B-A15E-091E7AC08CD0}" type="slidenum">
              <a:rPr lang="en-US" smtClean="0"/>
              <a:t>74</a:t>
            </a:fld>
            <a:endParaRPr lang="en-US"/>
          </a:p>
        </p:txBody>
      </p:sp>
    </p:spTree>
    <p:extLst>
      <p:ext uri="{BB962C8B-B14F-4D97-AF65-F5344CB8AC3E}">
        <p14:creationId xmlns:p14="http://schemas.microsoft.com/office/powerpoint/2010/main" val="3257605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46B17-CF28-00A9-5792-1CF1E6442B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77621-75AC-4BBE-A61B-FCF8F27E1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BAC28-8D39-78D9-8B6B-6E305A0FBBE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66FFE6A-8339-807C-AF7A-D8180B0D24A4}"/>
              </a:ext>
            </a:extLst>
          </p:cNvPr>
          <p:cNvSpPr>
            <a:spLocks noGrp="1"/>
          </p:cNvSpPr>
          <p:nvPr>
            <p:ph type="sldNum" sz="quarter" idx="5"/>
          </p:nvPr>
        </p:nvSpPr>
        <p:spPr/>
        <p:txBody>
          <a:bodyPr/>
          <a:lstStyle/>
          <a:p>
            <a:fld id="{B4E461AD-FDBE-8E4B-A15E-091E7AC08CD0}" type="slidenum">
              <a:rPr lang="en-US" smtClean="0"/>
              <a:t>75</a:t>
            </a:fld>
            <a:endParaRPr lang="en-US"/>
          </a:p>
        </p:txBody>
      </p:sp>
    </p:spTree>
    <p:extLst>
      <p:ext uri="{BB962C8B-B14F-4D97-AF65-F5344CB8AC3E}">
        <p14:creationId xmlns:p14="http://schemas.microsoft.com/office/powerpoint/2010/main" val="20400032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3FF97-8485-0D7E-157E-04B76F8DBB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50B48-1127-970E-A70A-04E74633A3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9C2ADE-24E2-CF77-69E6-FE881313EAB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C832DFF-C3BE-AB81-EB2C-AAC3A2FC183F}"/>
              </a:ext>
            </a:extLst>
          </p:cNvPr>
          <p:cNvSpPr>
            <a:spLocks noGrp="1"/>
          </p:cNvSpPr>
          <p:nvPr>
            <p:ph type="sldNum" sz="quarter" idx="5"/>
          </p:nvPr>
        </p:nvSpPr>
        <p:spPr/>
        <p:txBody>
          <a:bodyPr/>
          <a:lstStyle/>
          <a:p>
            <a:fld id="{B4E461AD-FDBE-8E4B-A15E-091E7AC08CD0}" type="slidenum">
              <a:rPr lang="en-US" smtClean="0"/>
              <a:t>76</a:t>
            </a:fld>
            <a:endParaRPr lang="en-US"/>
          </a:p>
        </p:txBody>
      </p:sp>
    </p:spTree>
    <p:extLst>
      <p:ext uri="{BB962C8B-B14F-4D97-AF65-F5344CB8AC3E}">
        <p14:creationId xmlns:p14="http://schemas.microsoft.com/office/powerpoint/2010/main" val="2926454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12165-2B1D-D511-6F97-B1B5FEDDE8F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11C2D4B-D4C3-077A-B40F-7172661DF0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CC1DBC2-27C5-B3B7-A234-D959E0D80830}"/>
              </a:ext>
            </a:extLst>
          </p:cNvPr>
          <p:cNvSpPr>
            <a:spLocks noGrp="1"/>
          </p:cNvSpPr>
          <p:nvPr>
            <p:ph type="dt" sz="half" idx="10"/>
          </p:nvPr>
        </p:nvSpPr>
        <p:spPr/>
        <p:txBody>
          <a:bodyPr/>
          <a:lstStyle/>
          <a:p>
            <a:fld id="{CB5983D9-7403-CC4D-BF52-29573146D871}" type="datetimeFigureOut">
              <a:rPr lang="en-US" smtClean="0"/>
              <a:t>11/7/25</a:t>
            </a:fld>
            <a:endParaRPr lang="en-US"/>
          </a:p>
        </p:txBody>
      </p:sp>
      <p:sp>
        <p:nvSpPr>
          <p:cNvPr id="5" name="Footer Placeholder 4">
            <a:extLst>
              <a:ext uri="{FF2B5EF4-FFF2-40B4-BE49-F238E27FC236}">
                <a16:creationId xmlns:a16="http://schemas.microsoft.com/office/drawing/2014/main" id="{989ADB8E-B7F3-7355-6C4B-3693AC8863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0CD230-EBE0-B0D4-7146-08DB6997EE11}"/>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169131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B135E-94E1-2FCE-D652-96E7BC36D6B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0F1D7AB-1E48-7740-54FA-766430C39C7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8CCF4EB-69B5-7173-58A0-5114180873C5}"/>
              </a:ext>
            </a:extLst>
          </p:cNvPr>
          <p:cNvSpPr>
            <a:spLocks noGrp="1"/>
          </p:cNvSpPr>
          <p:nvPr>
            <p:ph type="dt" sz="half" idx="10"/>
          </p:nvPr>
        </p:nvSpPr>
        <p:spPr/>
        <p:txBody>
          <a:bodyPr/>
          <a:lstStyle/>
          <a:p>
            <a:fld id="{CB5983D9-7403-CC4D-BF52-29573146D871}" type="datetimeFigureOut">
              <a:rPr lang="en-US" smtClean="0"/>
              <a:t>11/7/25</a:t>
            </a:fld>
            <a:endParaRPr lang="en-US"/>
          </a:p>
        </p:txBody>
      </p:sp>
      <p:sp>
        <p:nvSpPr>
          <p:cNvPr id="5" name="Footer Placeholder 4">
            <a:extLst>
              <a:ext uri="{FF2B5EF4-FFF2-40B4-BE49-F238E27FC236}">
                <a16:creationId xmlns:a16="http://schemas.microsoft.com/office/drawing/2014/main" id="{317DB3E4-7AAF-F931-70D6-0F926D3304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AD1712-DF77-1BF3-7403-89076B5AC753}"/>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260294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55CC2-BB84-7E27-B90B-2E44CFE478F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CB9AFCC-818C-9BC0-24F5-A79662935C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ED9046B-48FF-D2E3-E863-AA640765F420}"/>
              </a:ext>
            </a:extLst>
          </p:cNvPr>
          <p:cNvSpPr>
            <a:spLocks noGrp="1"/>
          </p:cNvSpPr>
          <p:nvPr>
            <p:ph type="dt" sz="half" idx="10"/>
          </p:nvPr>
        </p:nvSpPr>
        <p:spPr/>
        <p:txBody>
          <a:bodyPr/>
          <a:lstStyle/>
          <a:p>
            <a:fld id="{CB5983D9-7403-CC4D-BF52-29573146D871}" type="datetimeFigureOut">
              <a:rPr lang="en-US" smtClean="0"/>
              <a:t>11/7/25</a:t>
            </a:fld>
            <a:endParaRPr lang="en-US"/>
          </a:p>
        </p:txBody>
      </p:sp>
      <p:sp>
        <p:nvSpPr>
          <p:cNvPr id="5" name="Footer Placeholder 4">
            <a:extLst>
              <a:ext uri="{FF2B5EF4-FFF2-40B4-BE49-F238E27FC236}">
                <a16:creationId xmlns:a16="http://schemas.microsoft.com/office/drawing/2014/main" id="{7C28312E-4177-AFF3-F34C-9FF723B089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C875A2-7929-CDFC-625C-CDCDC710A8BA}"/>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4192320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02579-618E-D8BD-BB97-14B36E7103A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84921B5-0E9F-5A89-17CB-EB3E6B2965E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15F8C85-7B69-D073-2BBE-4C323B46BE2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28A878D-48D9-20D6-CDDD-6DA47A469556}"/>
              </a:ext>
            </a:extLst>
          </p:cNvPr>
          <p:cNvSpPr>
            <a:spLocks noGrp="1"/>
          </p:cNvSpPr>
          <p:nvPr>
            <p:ph type="dt" sz="half" idx="10"/>
          </p:nvPr>
        </p:nvSpPr>
        <p:spPr/>
        <p:txBody>
          <a:bodyPr/>
          <a:lstStyle/>
          <a:p>
            <a:fld id="{CB5983D9-7403-CC4D-BF52-29573146D871}" type="datetimeFigureOut">
              <a:rPr lang="en-US" smtClean="0"/>
              <a:t>11/7/25</a:t>
            </a:fld>
            <a:endParaRPr lang="en-US"/>
          </a:p>
        </p:txBody>
      </p:sp>
      <p:sp>
        <p:nvSpPr>
          <p:cNvPr id="6" name="Footer Placeholder 5">
            <a:extLst>
              <a:ext uri="{FF2B5EF4-FFF2-40B4-BE49-F238E27FC236}">
                <a16:creationId xmlns:a16="http://schemas.microsoft.com/office/drawing/2014/main" id="{2E15AF68-ECBF-8B85-1F94-87392B4BEC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D92993-5275-ACF6-3881-5D19D6B0A4CB}"/>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3479235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99ED2-FD3B-8687-B673-498800B8AD1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C92944C-7963-DF7E-973A-8A4D3E2A24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71E5931-F4D4-DA6A-AC7A-ACCBF05D91C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52C2AD3-5198-1698-15DD-246EDAC57A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48E8576-7CEB-A229-59C2-1E8ABB8ABF4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A66A448-592D-EE3C-2DFE-635C5D42E5C6}"/>
              </a:ext>
            </a:extLst>
          </p:cNvPr>
          <p:cNvSpPr>
            <a:spLocks noGrp="1"/>
          </p:cNvSpPr>
          <p:nvPr>
            <p:ph type="dt" sz="half" idx="10"/>
          </p:nvPr>
        </p:nvSpPr>
        <p:spPr/>
        <p:txBody>
          <a:bodyPr/>
          <a:lstStyle/>
          <a:p>
            <a:fld id="{CB5983D9-7403-CC4D-BF52-29573146D871}" type="datetimeFigureOut">
              <a:rPr lang="en-US" smtClean="0"/>
              <a:t>11/7/25</a:t>
            </a:fld>
            <a:endParaRPr lang="en-US"/>
          </a:p>
        </p:txBody>
      </p:sp>
      <p:sp>
        <p:nvSpPr>
          <p:cNvPr id="8" name="Footer Placeholder 7">
            <a:extLst>
              <a:ext uri="{FF2B5EF4-FFF2-40B4-BE49-F238E27FC236}">
                <a16:creationId xmlns:a16="http://schemas.microsoft.com/office/drawing/2014/main" id="{8E9972E9-AE8A-E44A-9FDD-D8A00D58102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EAC20F-AA52-9EFA-FA15-63185D1C3E4B}"/>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139615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36B4E-6426-DC73-966A-4A854FA19E4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51F7E62-F237-2381-56B7-3E72F8C6B2F1}"/>
              </a:ext>
            </a:extLst>
          </p:cNvPr>
          <p:cNvSpPr>
            <a:spLocks noGrp="1"/>
          </p:cNvSpPr>
          <p:nvPr>
            <p:ph type="dt" sz="half" idx="10"/>
          </p:nvPr>
        </p:nvSpPr>
        <p:spPr/>
        <p:txBody>
          <a:bodyPr/>
          <a:lstStyle/>
          <a:p>
            <a:fld id="{CB5983D9-7403-CC4D-BF52-29573146D871}" type="datetimeFigureOut">
              <a:rPr lang="en-US" smtClean="0"/>
              <a:t>11/7/25</a:t>
            </a:fld>
            <a:endParaRPr lang="en-US"/>
          </a:p>
        </p:txBody>
      </p:sp>
      <p:sp>
        <p:nvSpPr>
          <p:cNvPr id="4" name="Footer Placeholder 3">
            <a:extLst>
              <a:ext uri="{FF2B5EF4-FFF2-40B4-BE49-F238E27FC236}">
                <a16:creationId xmlns:a16="http://schemas.microsoft.com/office/drawing/2014/main" id="{1D695F83-09AD-64D6-3EE5-1D76624548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2B8BC2-49B1-1B1B-89E6-A34EC4EF422C}"/>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808336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27A29E-9E97-CF8D-B8D3-82FF61162B4B}"/>
              </a:ext>
            </a:extLst>
          </p:cNvPr>
          <p:cNvSpPr>
            <a:spLocks noGrp="1"/>
          </p:cNvSpPr>
          <p:nvPr>
            <p:ph type="dt" sz="half" idx="10"/>
          </p:nvPr>
        </p:nvSpPr>
        <p:spPr/>
        <p:txBody>
          <a:bodyPr/>
          <a:lstStyle/>
          <a:p>
            <a:fld id="{CB5983D9-7403-CC4D-BF52-29573146D871}" type="datetimeFigureOut">
              <a:rPr lang="en-US" smtClean="0"/>
              <a:t>11/7/25</a:t>
            </a:fld>
            <a:endParaRPr lang="en-US"/>
          </a:p>
        </p:txBody>
      </p:sp>
      <p:sp>
        <p:nvSpPr>
          <p:cNvPr id="3" name="Footer Placeholder 2">
            <a:extLst>
              <a:ext uri="{FF2B5EF4-FFF2-40B4-BE49-F238E27FC236}">
                <a16:creationId xmlns:a16="http://schemas.microsoft.com/office/drawing/2014/main" id="{BD902593-6AF6-A489-C2A8-7DE6C0979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925385-1F04-DC6E-51C6-29F6FF4DE576}"/>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3316908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7A23-CBEA-36AE-E252-A8498F1E242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04E384D-6688-8123-AEA2-B1EEF3CBF2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5BE7BEF-AE97-2EE9-EF62-5C54592434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DC8826E-3AFE-1E31-95A7-2547E89C5DB5}"/>
              </a:ext>
            </a:extLst>
          </p:cNvPr>
          <p:cNvSpPr>
            <a:spLocks noGrp="1"/>
          </p:cNvSpPr>
          <p:nvPr>
            <p:ph type="dt" sz="half" idx="10"/>
          </p:nvPr>
        </p:nvSpPr>
        <p:spPr/>
        <p:txBody>
          <a:bodyPr/>
          <a:lstStyle/>
          <a:p>
            <a:fld id="{CB5983D9-7403-CC4D-BF52-29573146D871}" type="datetimeFigureOut">
              <a:rPr lang="en-US" smtClean="0"/>
              <a:t>11/7/25</a:t>
            </a:fld>
            <a:endParaRPr lang="en-US"/>
          </a:p>
        </p:txBody>
      </p:sp>
      <p:sp>
        <p:nvSpPr>
          <p:cNvPr id="6" name="Footer Placeholder 5">
            <a:extLst>
              <a:ext uri="{FF2B5EF4-FFF2-40B4-BE49-F238E27FC236}">
                <a16:creationId xmlns:a16="http://schemas.microsoft.com/office/drawing/2014/main" id="{A0D7094C-9F84-F809-194C-E78CD4C4CC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08A69D-FE16-EBB5-5C2A-B82C5869E066}"/>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3706865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F5AEF-FBAD-2F8A-CB7E-1EDD4C1E5BB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1A27080-9C1A-961E-5833-CDC094DDD3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E1C890-04A7-A521-B2CB-B0FB8CE23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D946C55-C78F-AC73-84BD-2DAF2CE8109D}"/>
              </a:ext>
            </a:extLst>
          </p:cNvPr>
          <p:cNvSpPr>
            <a:spLocks noGrp="1"/>
          </p:cNvSpPr>
          <p:nvPr>
            <p:ph type="dt" sz="half" idx="10"/>
          </p:nvPr>
        </p:nvSpPr>
        <p:spPr/>
        <p:txBody>
          <a:bodyPr/>
          <a:lstStyle/>
          <a:p>
            <a:fld id="{CB5983D9-7403-CC4D-BF52-29573146D871}" type="datetimeFigureOut">
              <a:rPr lang="en-US" smtClean="0"/>
              <a:t>11/7/25</a:t>
            </a:fld>
            <a:endParaRPr lang="en-US"/>
          </a:p>
        </p:txBody>
      </p:sp>
      <p:sp>
        <p:nvSpPr>
          <p:cNvPr id="6" name="Footer Placeholder 5">
            <a:extLst>
              <a:ext uri="{FF2B5EF4-FFF2-40B4-BE49-F238E27FC236}">
                <a16:creationId xmlns:a16="http://schemas.microsoft.com/office/drawing/2014/main" id="{EFAE468E-CD93-D999-FA8A-7EEACB47EA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1E1490-3FC2-33ED-7516-E7B502E36F70}"/>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3681330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1984F-E1C0-4F2A-7998-10968B95FF9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6A89EE2-A610-A935-D747-CC65D82B94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2F652D9-39B6-D1A0-5296-F7C74B6D90D9}"/>
              </a:ext>
            </a:extLst>
          </p:cNvPr>
          <p:cNvSpPr>
            <a:spLocks noGrp="1"/>
          </p:cNvSpPr>
          <p:nvPr>
            <p:ph type="dt" sz="half" idx="10"/>
          </p:nvPr>
        </p:nvSpPr>
        <p:spPr/>
        <p:txBody>
          <a:bodyPr/>
          <a:lstStyle/>
          <a:p>
            <a:fld id="{CB5983D9-7403-CC4D-BF52-29573146D871}" type="datetimeFigureOut">
              <a:rPr lang="en-US" smtClean="0"/>
              <a:t>11/7/25</a:t>
            </a:fld>
            <a:endParaRPr lang="en-US"/>
          </a:p>
        </p:txBody>
      </p:sp>
      <p:sp>
        <p:nvSpPr>
          <p:cNvPr id="5" name="Footer Placeholder 4">
            <a:extLst>
              <a:ext uri="{FF2B5EF4-FFF2-40B4-BE49-F238E27FC236}">
                <a16:creationId xmlns:a16="http://schemas.microsoft.com/office/drawing/2014/main" id="{C72F2913-6486-A662-3AB1-C80A0FF589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9DF024-234D-BCB0-4167-2DC5A9BD80C8}"/>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949776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8648E9-D3B0-25A3-5B9E-5567B6FAD30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6DDD3DC-02C8-62B7-F0DB-489482C7021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F0A3748-30B6-576F-7106-6AE1E7FE4A65}"/>
              </a:ext>
            </a:extLst>
          </p:cNvPr>
          <p:cNvSpPr>
            <a:spLocks noGrp="1"/>
          </p:cNvSpPr>
          <p:nvPr>
            <p:ph type="dt" sz="half" idx="10"/>
          </p:nvPr>
        </p:nvSpPr>
        <p:spPr/>
        <p:txBody>
          <a:bodyPr/>
          <a:lstStyle/>
          <a:p>
            <a:fld id="{CB5983D9-7403-CC4D-BF52-29573146D871}" type="datetimeFigureOut">
              <a:rPr lang="en-US" smtClean="0"/>
              <a:t>11/7/25</a:t>
            </a:fld>
            <a:endParaRPr lang="en-US"/>
          </a:p>
        </p:txBody>
      </p:sp>
      <p:sp>
        <p:nvSpPr>
          <p:cNvPr id="5" name="Footer Placeholder 4">
            <a:extLst>
              <a:ext uri="{FF2B5EF4-FFF2-40B4-BE49-F238E27FC236}">
                <a16:creationId xmlns:a16="http://schemas.microsoft.com/office/drawing/2014/main" id="{A32B7AEF-B6AF-2E30-130E-0E6D2DB3B8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461A5B-1A4C-0E4D-6967-A538295639EA}"/>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2332529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B638DE-5A26-F87C-2197-0A3E58690F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EEDBA88-F48C-13D4-65C6-FF671E92D2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83C3980-0DE4-C2C7-B0AC-194EC6ED15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5983D9-7403-CC4D-BF52-29573146D871}" type="datetimeFigureOut">
              <a:rPr lang="en-US" smtClean="0"/>
              <a:t>11/7/25</a:t>
            </a:fld>
            <a:endParaRPr lang="en-US"/>
          </a:p>
        </p:txBody>
      </p:sp>
      <p:sp>
        <p:nvSpPr>
          <p:cNvPr id="5" name="Footer Placeholder 4">
            <a:extLst>
              <a:ext uri="{FF2B5EF4-FFF2-40B4-BE49-F238E27FC236}">
                <a16:creationId xmlns:a16="http://schemas.microsoft.com/office/drawing/2014/main" id="{9D0F4F0E-EB3C-5505-3772-C4F5DAE6EA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3DDFC2B-1111-0DB1-4B2A-400D14EA7F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85DBD4-44C9-AE44-BB30-ACCE78A0FF51}" type="slidenum">
              <a:rPr lang="en-US" smtClean="0"/>
              <a:t>‹#›</a:t>
            </a:fld>
            <a:endParaRPr lang="en-US"/>
          </a:p>
        </p:txBody>
      </p:sp>
    </p:spTree>
    <p:extLst>
      <p:ext uri="{BB962C8B-B14F-4D97-AF65-F5344CB8AC3E}">
        <p14:creationId xmlns:p14="http://schemas.microsoft.com/office/powerpoint/2010/main" val="8437144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corysimon.github.io/articles/simpsons-paradox/"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corysimon.github.io/articles/simpsons-paradox/"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046C48-7E1A-C777-699A-E28BBACC894A}"/>
              </a:ext>
            </a:extLst>
          </p:cNvPr>
          <p:cNvSpPr txBox="1"/>
          <p:nvPr/>
        </p:nvSpPr>
        <p:spPr>
          <a:xfrm>
            <a:off x="542007" y="682441"/>
            <a:ext cx="11291363" cy="3785652"/>
          </a:xfrm>
          <a:prstGeom prst="rect">
            <a:avLst/>
          </a:prstGeom>
          <a:noFill/>
        </p:spPr>
        <p:txBody>
          <a:bodyPr wrap="square">
            <a:spAutoFit/>
          </a:bodyPr>
          <a:lstStyle/>
          <a:p>
            <a:pPr algn="ctr"/>
            <a:r>
              <a:rPr lang="en-GB" sz="6000" kern="12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rPr>
              <a:t>Linear Models 4</a:t>
            </a:r>
          </a:p>
          <a:p>
            <a:pPr algn="ctr"/>
            <a:endParaRPr lang="en-GB" sz="6000" kern="12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a:p>
            <a:pPr algn="ctr"/>
            <a:r>
              <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rPr>
              <a:t>Does my </a:t>
            </a: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 represent reality?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12" name="Rectangle 11">
            <a:extLst>
              <a:ext uri="{FF2B5EF4-FFF2-40B4-BE49-F238E27FC236}">
                <a16:creationId xmlns:a16="http://schemas.microsoft.com/office/drawing/2014/main" id="{CA023E8E-CE0F-755B-BE85-4C00717E05F7}"/>
              </a:ext>
            </a:extLst>
          </p:cNvPr>
          <p:cNvSpPr/>
          <p:nvPr/>
        </p:nvSpPr>
        <p:spPr>
          <a:xfrm>
            <a:off x="311692" y="4998401"/>
            <a:ext cx="11637292" cy="1588069"/>
          </a:xfrm>
          <a:prstGeom prst="rect">
            <a:avLst/>
          </a:prstGeom>
          <a:solidFill>
            <a:schemeClr val="accent6">
              <a:lumMod val="60000"/>
              <a:lumOff val="40000"/>
              <a:alpha val="50196"/>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200" dirty="0">
                <a:solidFill>
                  <a:schemeClr val="accent6">
                    <a:lumMod val="50000"/>
                  </a:schemeClr>
                </a:solidFill>
                <a:latin typeface="Avenir" panose="02000503020000020003" pitchFamily="2" charset="0"/>
                <a:ea typeface="Helvetica Neue Condensed" panose="02000503000000020004" pitchFamily="2" charset="0"/>
                <a:cs typeface="Helvetica Neue Condensed" panose="02000503000000020004" pitchFamily="2" charset="0"/>
              </a:rPr>
              <a:t>Data Science</a:t>
            </a:r>
          </a:p>
          <a:p>
            <a:pPr lvl="0" algn="ctr"/>
            <a:r>
              <a:rPr lang="en-US" sz="2200" dirty="0">
                <a:solidFill>
                  <a:schemeClr val="accent6">
                    <a:lumMod val="50000"/>
                  </a:schemeClr>
                </a:solidFill>
                <a:latin typeface="Avenir" panose="02000503020000020003" pitchFamily="2" charset="0"/>
                <a:ea typeface="Helvetica Neue Condensed" panose="02000503000000020004" pitchFamily="2" charset="0"/>
                <a:cs typeface="Helvetica Neue Condensed" panose="02000503000000020004" pitchFamily="2" charset="0"/>
              </a:rPr>
              <a:t>Week 8</a:t>
            </a:r>
          </a:p>
        </p:txBody>
      </p:sp>
    </p:spTree>
    <p:extLst>
      <p:ext uri="{BB962C8B-B14F-4D97-AF65-F5344CB8AC3E}">
        <p14:creationId xmlns:p14="http://schemas.microsoft.com/office/powerpoint/2010/main" val="877539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4F031-AAF1-E2D5-A17A-86025AF3A29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54BF96F-6301-AD4A-6113-7518F59540A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First up</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8FA8EA63-B4C5-52E8-AC5B-33287756B88B}"/>
              </a:ext>
            </a:extLst>
          </p:cNvPr>
          <p:cNvSpPr txBox="1"/>
          <p:nvPr/>
        </p:nvSpPr>
        <p:spPr>
          <a:xfrm>
            <a:off x="589816" y="1601285"/>
            <a:ext cx="11291362" cy="147732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Impress my Nieces Winner!</a:t>
            </a:r>
          </a:p>
          <a:p>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Class in Two Parts</a:t>
            </a:r>
          </a:p>
        </p:txBody>
      </p:sp>
      <p:sp>
        <p:nvSpPr>
          <p:cNvPr id="2" name="AutoShape 2" descr="Image">
            <a:extLst>
              <a:ext uri="{FF2B5EF4-FFF2-40B4-BE49-F238E27FC236}">
                <a16:creationId xmlns:a16="http://schemas.microsoft.com/office/drawing/2014/main" id="{1CAE162B-1DA0-CD07-1C3D-A697F816972A}"/>
              </a:ext>
            </a:extLst>
          </p:cNvPr>
          <p:cNvSpPr>
            <a:spLocks noChangeAspect="1" noChangeArrowheads="1"/>
          </p:cNvSpPr>
          <p:nvPr/>
        </p:nvSpPr>
        <p:spPr bwMode="auto">
          <a:xfrm>
            <a:off x="2286000" y="0"/>
            <a:ext cx="7620000" cy="685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918653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C7A2F-6242-8386-D11A-64457B608AA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06E48EE-C621-F2A6-3DAA-1EFD03826CE1}"/>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Impress my Nieces!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AutoShape 2" descr="Image">
            <a:extLst>
              <a:ext uri="{FF2B5EF4-FFF2-40B4-BE49-F238E27FC236}">
                <a16:creationId xmlns:a16="http://schemas.microsoft.com/office/drawing/2014/main" id="{10917F69-B961-35F3-DBCD-CF83F199978E}"/>
              </a:ext>
            </a:extLst>
          </p:cNvPr>
          <p:cNvSpPr>
            <a:spLocks noChangeAspect="1" noChangeArrowheads="1"/>
          </p:cNvSpPr>
          <p:nvPr/>
        </p:nvSpPr>
        <p:spPr bwMode="auto">
          <a:xfrm>
            <a:off x="2286000" y="0"/>
            <a:ext cx="7620000" cy="685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215490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32501-F891-2669-7AC0-6E9A0339D5C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9B490FC-085A-FE70-C7E6-C3761077905E}"/>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Impress my Nieces!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AutoShape 2" descr="Image">
            <a:extLst>
              <a:ext uri="{FF2B5EF4-FFF2-40B4-BE49-F238E27FC236}">
                <a16:creationId xmlns:a16="http://schemas.microsoft.com/office/drawing/2014/main" id="{D7FCB91A-2BD4-5D97-4224-939E7AFFAA67}"/>
              </a:ext>
            </a:extLst>
          </p:cNvPr>
          <p:cNvSpPr>
            <a:spLocks noChangeAspect="1" noChangeArrowheads="1"/>
          </p:cNvSpPr>
          <p:nvPr/>
        </p:nvSpPr>
        <p:spPr bwMode="auto">
          <a:xfrm>
            <a:off x="2286000" y="0"/>
            <a:ext cx="7620000" cy="685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4" name="Picture 3">
            <a:extLst>
              <a:ext uri="{FF2B5EF4-FFF2-40B4-BE49-F238E27FC236}">
                <a16:creationId xmlns:a16="http://schemas.microsoft.com/office/drawing/2014/main" id="{7B92AD5F-1437-EDA5-F2CA-1CDBF11091CD}"/>
              </a:ext>
            </a:extLst>
          </p:cNvPr>
          <p:cNvPicPr>
            <a:picLocks noChangeAspect="1"/>
          </p:cNvPicPr>
          <p:nvPr/>
        </p:nvPicPr>
        <p:blipFill>
          <a:blip r:embed="rId2"/>
          <a:stretch>
            <a:fillRect/>
          </a:stretch>
        </p:blipFill>
        <p:spPr>
          <a:xfrm>
            <a:off x="1767112" y="1669105"/>
            <a:ext cx="9003982" cy="4534472"/>
          </a:xfrm>
          <a:prstGeom prst="rect">
            <a:avLst/>
          </a:prstGeom>
        </p:spPr>
      </p:pic>
    </p:spTree>
    <p:extLst>
      <p:ext uri="{BB962C8B-B14F-4D97-AF65-F5344CB8AC3E}">
        <p14:creationId xmlns:p14="http://schemas.microsoft.com/office/powerpoint/2010/main" val="3010338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8B0AD-11AC-2F85-F2D5-9CC4A618331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A27F141-C09B-7342-540E-6D822AAC040C}"/>
              </a:ext>
            </a:extLst>
          </p:cNvPr>
          <p:cNvSpPr txBox="1"/>
          <p:nvPr/>
        </p:nvSpPr>
        <p:spPr>
          <a:xfrm>
            <a:off x="450318" y="385786"/>
            <a:ext cx="11291363" cy="1938992"/>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“All models are wrong, </a:t>
            </a:r>
          </a:p>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					some are useful”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5" name="TextBox 4">
            <a:extLst>
              <a:ext uri="{FF2B5EF4-FFF2-40B4-BE49-F238E27FC236}">
                <a16:creationId xmlns:a16="http://schemas.microsoft.com/office/drawing/2014/main" id="{E76DD0EE-61A2-69FE-47DA-F8EB29F76275}"/>
              </a:ext>
            </a:extLst>
          </p:cNvPr>
          <p:cNvSpPr txBox="1"/>
          <p:nvPr/>
        </p:nvSpPr>
        <p:spPr>
          <a:xfrm>
            <a:off x="609232" y="3340650"/>
            <a:ext cx="10973534" cy="378565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A model is not a wizard. It does not magically reveal things in the data that aren’t already there. </a:t>
            </a: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It’s just a means of simplifying and summarizing relationships.</a:t>
            </a:r>
          </a:p>
          <a:p>
            <a:endParaRPr lang="en-US" sz="3000" dirty="0">
              <a:solidFill>
                <a:schemeClr val="accent6">
                  <a:lumMod val="50000"/>
                </a:schemeClr>
              </a:solidFill>
              <a:latin typeface="Avenir Book" panose="02000503020000020003" pitchFamily="2" charset="0"/>
            </a:endParaRPr>
          </a:p>
          <a:p>
            <a:pPr algn="ctr"/>
            <a:r>
              <a:rPr lang="en-US" sz="3000" dirty="0">
                <a:solidFill>
                  <a:schemeClr val="accent6">
                    <a:lumMod val="50000"/>
                  </a:schemeClr>
                </a:solidFill>
                <a:latin typeface="Avenir Book" panose="02000503020000020003" pitchFamily="2" charset="0"/>
              </a:rPr>
              <a:t>Interpret with care!!!</a:t>
            </a: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3545388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C9430-46FC-42D3-5204-16A6027193D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2E44136-C2D7-A202-23D0-E3E0C53D5566}"/>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355DC4B2-0BEC-F6B9-5D83-E295BDDE4172}"/>
              </a:ext>
            </a:extLst>
          </p:cNvPr>
          <p:cNvSpPr txBox="1"/>
          <p:nvPr/>
        </p:nvSpPr>
        <p:spPr>
          <a:xfrm>
            <a:off x="589816" y="1601285"/>
            <a:ext cx="11291362" cy="3785652"/>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We’ve discussed how to interpret what the model says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You can have a *perfect* model</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But what if it doesn’t represent reality right?</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1294079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F2DD3-EB42-917E-CD3F-D90FA5D080E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05BA475-94EF-E297-37EE-6FB5BFA4736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Class in Two Parts!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ED15AD2E-9961-A9B1-0A5D-B8E677A767C5}"/>
              </a:ext>
            </a:extLst>
          </p:cNvPr>
          <p:cNvSpPr txBox="1"/>
          <p:nvPr/>
        </p:nvSpPr>
        <p:spPr>
          <a:xfrm>
            <a:off x="589816" y="1601285"/>
            <a:ext cx="11291362" cy="4247317"/>
          </a:xfrm>
          <a:prstGeom prst="rect">
            <a:avLst/>
          </a:prstGeom>
          <a:noFill/>
        </p:spPr>
        <p:txBody>
          <a:bodyPr wrap="square">
            <a:spAutoFit/>
          </a:bodyPr>
          <a:lstStyle/>
          <a:p>
            <a:pPr marL="457200" indent="-457200">
              <a:buFont typeface="Arial" panose="020B0604020202020204" pitchFamily="34" charset="0"/>
              <a:buChar char="•"/>
            </a:pPr>
            <a:r>
              <a:rPr lang="en-US" sz="3000" b="1" dirty="0">
                <a:solidFill>
                  <a:schemeClr val="accent6">
                    <a:lumMod val="50000"/>
                  </a:schemeClr>
                </a:solidFill>
                <a:latin typeface="Avenir Book" panose="02000503020000020003" pitchFamily="2" charset="0"/>
              </a:rPr>
              <a:t>First</a:t>
            </a:r>
            <a:r>
              <a:rPr lang="en-US" sz="3000" dirty="0">
                <a:solidFill>
                  <a:schemeClr val="accent6">
                    <a:lumMod val="50000"/>
                  </a:schemeClr>
                </a:solidFill>
                <a:latin typeface="Avenir Book" panose="02000503020000020003" pitchFamily="2" charset="0"/>
              </a:rPr>
              <a:t>, we’re going to think about confounding factors. </a:t>
            </a:r>
            <a:r>
              <a:rPr lang="en-US" sz="3000" b="1" dirty="0">
                <a:solidFill>
                  <a:schemeClr val="accent6">
                    <a:lumMod val="50000"/>
                  </a:schemeClr>
                </a:solidFill>
                <a:latin typeface="Avenir Book" panose="02000503020000020003" pitchFamily="2" charset="0"/>
              </a:rPr>
              <a:t>This is NOT especially relevant for your WWF report</a:t>
            </a:r>
            <a:r>
              <a:rPr lang="en-US" sz="3000" dirty="0">
                <a:solidFill>
                  <a:schemeClr val="accent6">
                    <a:lumMod val="50000"/>
                  </a:schemeClr>
                </a:solidFill>
                <a:latin typeface="Avenir Book" panose="02000503020000020003" pitchFamily="2" charset="0"/>
              </a:rPr>
              <a:t>, and I don’t want you to stress trying to apply it. </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b="1" dirty="0">
                <a:solidFill>
                  <a:schemeClr val="accent6">
                    <a:lumMod val="50000"/>
                  </a:schemeClr>
                </a:solidFill>
                <a:latin typeface="Avenir Book" panose="02000503020000020003" pitchFamily="2" charset="0"/>
              </a:rPr>
              <a:t>Second</a:t>
            </a:r>
            <a:r>
              <a:rPr lang="en-US" sz="3000" dirty="0">
                <a:solidFill>
                  <a:schemeClr val="accent6">
                    <a:lumMod val="50000"/>
                  </a:schemeClr>
                </a:solidFill>
                <a:latin typeface="Avenir Book" panose="02000503020000020003" pitchFamily="2" charset="0"/>
              </a:rPr>
              <a:t>, we’re going to think about data biases and representativeness. </a:t>
            </a:r>
            <a:r>
              <a:rPr lang="en-US" sz="3000" b="1" u="sng" dirty="0">
                <a:solidFill>
                  <a:schemeClr val="accent6">
                    <a:lumMod val="50000"/>
                  </a:schemeClr>
                </a:solidFill>
                <a:latin typeface="Avenir Book" panose="02000503020000020003" pitchFamily="2" charset="0"/>
              </a:rPr>
              <a:t>This IS relevant for your WWF report, and we’ll use the activity time for you to apply the thinking</a:t>
            </a:r>
            <a:r>
              <a:rPr lang="en-US" sz="3000" dirty="0">
                <a:solidFill>
                  <a:schemeClr val="accent6">
                    <a:lumMod val="50000"/>
                  </a:schemeClr>
                </a:solidFill>
                <a:latin typeface="Avenir Book" panose="02000503020000020003" pitchFamily="2" charset="0"/>
              </a:rPr>
              <a:t>. </a:t>
            </a:r>
          </a:p>
        </p:txBody>
      </p:sp>
    </p:spTree>
    <p:extLst>
      <p:ext uri="{BB962C8B-B14F-4D97-AF65-F5344CB8AC3E}">
        <p14:creationId xmlns:p14="http://schemas.microsoft.com/office/powerpoint/2010/main" val="2483246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292DB-2B60-5775-2205-78AE0F6425B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83F9E01-E9C9-CDCC-091D-A617AAEA54FF}"/>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87BC92CA-5534-9E4A-B631-44F8B2E6BC38}"/>
              </a:ext>
            </a:extLst>
          </p:cNvPr>
          <p:cNvSpPr txBox="1"/>
          <p:nvPr/>
        </p:nvSpPr>
        <p:spPr>
          <a:xfrm>
            <a:off x="589816" y="1601285"/>
            <a:ext cx="11291362" cy="3785652"/>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Today: no </a:t>
            </a:r>
            <a:r>
              <a:rPr lang="en-US" sz="3000" dirty="0" err="1">
                <a:solidFill>
                  <a:schemeClr val="accent6">
                    <a:lumMod val="50000"/>
                  </a:schemeClr>
                </a:solidFill>
                <a:latin typeface="Avenir Book" panose="02000503020000020003" pitchFamily="2" charset="0"/>
              </a:rPr>
              <a:t>maths</a:t>
            </a:r>
            <a:r>
              <a:rPr lang="en-US" sz="3000" dirty="0">
                <a:solidFill>
                  <a:schemeClr val="accent6">
                    <a:lumMod val="50000"/>
                  </a:schemeClr>
                </a:solidFill>
                <a:latin typeface="Avenir Book" panose="02000503020000020003" pitchFamily="2" charset="0"/>
              </a:rPr>
              <a:t>, no numbers (just some graphs)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Grounding back to reality</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355471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27DB4-373A-2F8F-7C6A-9C67C5B1852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D4C181F-09F7-CA33-60CC-AB60170677A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D9FF4624-738A-FD5A-3F04-0DAA7C790378}"/>
              </a:ext>
            </a:extLst>
          </p:cNvPr>
          <p:cNvSpPr txBox="1"/>
          <p:nvPr/>
        </p:nvSpPr>
        <p:spPr>
          <a:xfrm>
            <a:off x="589816" y="1601285"/>
            <a:ext cx="11291362" cy="4247317"/>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Today: no </a:t>
            </a:r>
            <a:r>
              <a:rPr lang="en-US" sz="3000" dirty="0" err="1">
                <a:solidFill>
                  <a:schemeClr val="accent6">
                    <a:lumMod val="50000"/>
                  </a:schemeClr>
                </a:solidFill>
                <a:latin typeface="Avenir Book" panose="02000503020000020003" pitchFamily="2" charset="0"/>
              </a:rPr>
              <a:t>maths</a:t>
            </a:r>
            <a:r>
              <a:rPr lang="en-US" sz="3000" dirty="0">
                <a:solidFill>
                  <a:schemeClr val="accent6">
                    <a:lumMod val="50000"/>
                  </a:schemeClr>
                </a:solidFill>
                <a:latin typeface="Avenir Book" panose="02000503020000020003" pitchFamily="2" charset="0"/>
              </a:rPr>
              <a:t>, no numbers (just some graphs)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Grounding back to reality</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CRUCIAL to being a good statistician (/person in the world)</a:t>
            </a:r>
          </a:p>
        </p:txBody>
      </p:sp>
    </p:spTree>
    <p:extLst>
      <p:ext uri="{BB962C8B-B14F-4D97-AF65-F5344CB8AC3E}">
        <p14:creationId xmlns:p14="http://schemas.microsoft.com/office/powerpoint/2010/main" val="3910320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4B024-C03E-B357-815C-B8498FBEB63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7CD7940-0AFD-F391-79B2-487BD5E024A6}"/>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pSp>
        <p:nvGrpSpPr>
          <p:cNvPr id="23" name="Group 22">
            <a:extLst>
              <a:ext uri="{FF2B5EF4-FFF2-40B4-BE49-F238E27FC236}">
                <a16:creationId xmlns:a16="http://schemas.microsoft.com/office/drawing/2014/main" id="{480DB34E-439C-2079-2EC8-6A7B2A4822AB}"/>
              </a:ext>
            </a:extLst>
          </p:cNvPr>
          <p:cNvGrpSpPr/>
          <p:nvPr/>
        </p:nvGrpSpPr>
        <p:grpSpPr>
          <a:xfrm>
            <a:off x="3105830" y="2028497"/>
            <a:ext cx="5092240" cy="4632156"/>
            <a:chOff x="2874601" y="1145628"/>
            <a:chExt cx="6069702" cy="5546556"/>
          </a:xfrm>
        </p:grpSpPr>
        <p:cxnSp>
          <p:nvCxnSpPr>
            <p:cNvPr id="6" name="Straight Arrow Connector 5">
              <a:extLst>
                <a:ext uri="{FF2B5EF4-FFF2-40B4-BE49-F238E27FC236}">
                  <a16:creationId xmlns:a16="http://schemas.microsoft.com/office/drawing/2014/main" id="{D0B0C107-2B34-8415-F4D5-C11AB87B4633}"/>
                </a:ext>
              </a:extLst>
            </p:cNvPr>
            <p:cNvCxnSpPr>
              <a:cxnSpLocks/>
            </p:cNvCxnSpPr>
            <p:nvPr/>
          </p:nvCxnSpPr>
          <p:spPr>
            <a:xfrm flipV="1">
              <a:off x="3447393" y="1145628"/>
              <a:ext cx="0" cy="486410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0CC7BF65-7B0D-36AF-9724-04D4707576DF}"/>
                </a:ext>
              </a:extLst>
            </p:cNvPr>
            <p:cNvCxnSpPr>
              <a:cxnSpLocks/>
            </p:cNvCxnSpPr>
            <p:nvPr/>
          </p:nvCxnSpPr>
          <p:spPr>
            <a:xfrm>
              <a:off x="3447393" y="6009728"/>
              <a:ext cx="549691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67F4731E-C3E7-98D7-B2BA-4998635EB808}"/>
                </a:ext>
              </a:extLst>
            </p:cNvPr>
            <p:cNvSpPr txBox="1"/>
            <p:nvPr/>
          </p:nvSpPr>
          <p:spPr>
            <a:xfrm>
              <a:off x="5877910" y="6138186"/>
              <a:ext cx="1849523"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X</a:t>
              </a:r>
            </a:p>
          </p:txBody>
        </p:sp>
        <p:sp>
          <p:nvSpPr>
            <p:cNvPr id="9" name="TextBox 8">
              <a:extLst>
                <a:ext uri="{FF2B5EF4-FFF2-40B4-BE49-F238E27FC236}">
                  <a16:creationId xmlns:a16="http://schemas.microsoft.com/office/drawing/2014/main" id="{F1E87340-E6D4-68BF-533C-3684CE1AEB89}"/>
                </a:ext>
              </a:extLst>
            </p:cNvPr>
            <p:cNvSpPr txBox="1"/>
            <p:nvPr/>
          </p:nvSpPr>
          <p:spPr>
            <a:xfrm>
              <a:off x="2874601" y="3038407"/>
              <a:ext cx="4371088"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Y</a:t>
              </a:r>
            </a:p>
          </p:txBody>
        </p:sp>
        <p:sp>
          <p:nvSpPr>
            <p:cNvPr id="10" name="Oval 9">
              <a:extLst>
                <a:ext uri="{FF2B5EF4-FFF2-40B4-BE49-F238E27FC236}">
                  <a16:creationId xmlns:a16="http://schemas.microsoft.com/office/drawing/2014/main" id="{F7C60956-0AF1-6222-6207-84D3A4FF3462}"/>
                </a:ext>
              </a:extLst>
            </p:cNvPr>
            <p:cNvSpPr/>
            <p:nvPr/>
          </p:nvSpPr>
          <p:spPr>
            <a:xfrm>
              <a:off x="3904593" y="4561928"/>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DC5CCDF-508C-65F2-06B8-CCC3D258178C}"/>
                </a:ext>
              </a:extLst>
            </p:cNvPr>
            <p:cNvSpPr/>
            <p:nvPr/>
          </p:nvSpPr>
          <p:spPr>
            <a:xfrm>
              <a:off x="5047593" y="4576216"/>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15EE382-850C-787C-38CC-4178EABDF0D8}"/>
                </a:ext>
              </a:extLst>
            </p:cNvPr>
            <p:cNvSpPr/>
            <p:nvPr/>
          </p:nvSpPr>
          <p:spPr>
            <a:xfrm>
              <a:off x="4366555" y="3599904"/>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C0F7BDE-672E-A884-C098-2BFDAF278102}"/>
                </a:ext>
              </a:extLst>
            </p:cNvPr>
            <p:cNvSpPr/>
            <p:nvPr/>
          </p:nvSpPr>
          <p:spPr>
            <a:xfrm>
              <a:off x="6886019" y="361611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1A1D450-3673-66FE-F89E-C7926C7CE032}"/>
                </a:ext>
              </a:extLst>
            </p:cNvPr>
            <p:cNvSpPr/>
            <p:nvPr/>
          </p:nvSpPr>
          <p:spPr>
            <a:xfrm>
              <a:off x="5339321" y="2328823"/>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B984919-D716-23DF-0BDD-261BBF2813AF}"/>
                </a:ext>
              </a:extLst>
            </p:cNvPr>
            <p:cNvSpPr/>
            <p:nvPr/>
          </p:nvSpPr>
          <p:spPr>
            <a:xfrm>
              <a:off x="5472265" y="3428049"/>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82AEFC8-DDD1-701C-6330-9C5F32864038}"/>
                </a:ext>
              </a:extLst>
            </p:cNvPr>
            <p:cNvSpPr/>
            <p:nvPr/>
          </p:nvSpPr>
          <p:spPr>
            <a:xfrm>
              <a:off x="5858129" y="280223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EA5FF19-4E6C-31B8-EB15-6A5A2E407215}"/>
                </a:ext>
              </a:extLst>
            </p:cNvPr>
            <p:cNvSpPr/>
            <p:nvPr/>
          </p:nvSpPr>
          <p:spPr>
            <a:xfrm>
              <a:off x="6153201" y="1560339"/>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1F93B3E-E93E-DE90-F05E-62446FBACD1E}"/>
                </a:ext>
              </a:extLst>
            </p:cNvPr>
            <p:cNvSpPr/>
            <p:nvPr/>
          </p:nvSpPr>
          <p:spPr>
            <a:xfrm>
              <a:off x="6694707" y="2432586"/>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23F12B3-9974-EDD8-7C84-6B87C9266C86}"/>
                </a:ext>
              </a:extLst>
            </p:cNvPr>
            <p:cNvSpPr/>
            <p:nvPr/>
          </p:nvSpPr>
          <p:spPr>
            <a:xfrm>
              <a:off x="7482648" y="173543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D7431DA-B7E9-3547-D146-C70C3F08F48F}"/>
                </a:ext>
              </a:extLst>
            </p:cNvPr>
            <p:cNvSpPr/>
            <p:nvPr/>
          </p:nvSpPr>
          <p:spPr>
            <a:xfrm>
              <a:off x="5967248" y="4297692"/>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0C67905-5B27-83F1-FCE0-F1F5A81CBCD5}"/>
                </a:ext>
              </a:extLst>
            </p:cNvPr>
            <p:cNvSpPr/>
            <p:nvPr/>
          </p:nvSpPr>
          <p:spPr>
            <a:xfrm>
              <a:off x="5089635" y="5353982"/>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96800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EE3E1-DCDA-674F-3F54-510B391E688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2CF3BB7-783B-B490-584F-ED612D8D61B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pSp>
        <p:nvGrpSpPr>
          <p:cNvPr id="23" name="Group 22">
            <a:extLst>
              <a:ext uri="{FF2B5EF4-FFF2-40B4-BE49-F238E27FC236}">
                <a16:creationId xmlns:a16="http://schemas.microsoft.com/office/drawing/2014/main" id="{1E68181B-D899-6734-FCCB-6B5BAA5C7366}"/>
              </a:ext>
            </a:extLst>
          </p:cNvPr>
          <p:cNvGrpSpPr/>
          <p:nvPr/>
        </p:nvGrpSpPr>
        <p:grpSpPr>
          <a:xfrm>
            <a:off x="3105830" y="2028497"/>
            <a:ext cx="5092240" cy="4632156"/>
            <a:chOff x="2874601" y="1145628"/>
            <a:chExt cx="6069702" cy="5546556"/>
          </a:xfrm>
        </p:grpSpPr>
        <p:cxnSp>
          <p:nvCxnSpPr>
            <p:cNvPr id="6" name="Straight Arrow Connector 5">
              <a:extLst>
                <a:ext uri="{FF2B5EF4-FFF2-40B4-BE49-F238E27FC236}">
                  <a16:creationId xmlns:a16="http://schemas.microsoft.com/office/drawing/2014/main" id="{26EEF67B-8BD2-A0C1-82D5-C774DC8218EB}"/>
                </a:ext>
              </a:extLst>
            </p:cNvPr>
            <p:cNvCxnSpPr>
              <a:cxnSpLocks/>
            </p:cNvCxnSpPr>
            <p:nvPr/>
          </p:nvCxnSpPr>
          <p:spPr>
            <a:xfrm flipV="1">
              <a:off x="3447393" y="1145628"/>
              <a:ext cx="0" cy="486410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89971B34-2AFC-D1D8-45D3-F1E6C51874A5}"/>
                </a:ext>
              </a:extLst>
            </p:cNvPr>
            <p:cNvCxnSpPr>
              <a:cxnSpLocks/>
            </p:cNvCxnSpPr>
            <p:nvPr/>
          </p:nvCxnSpPr>
          <p:spPr>
            <a:xfrm>
              <a:off x="3447393" y="6009728"/>
              <a:ext cx="549691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138962C3-DE7A-B3D8-179C-CF1E09993DE5}"/>
                </a:ext>
              </a:extLst>
            </p:cNvPr>
            <p:cNvSpPr txBox="1"/>
            <p:nvPr/>
          </p:nvSpPr>
          <p:spPr>
            <a:xfrm>
              <a:off x="5877910" y="6138186"/>
              <a:ext cx="1849523"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X</a:t>
              </a:r>
            </a:p>
          </p:txBody>
        </p:sp>
        <p:sp>
          <p:nvSpPr>
            <p:cNvPr id="9" name="TextBox 8">
              <a:extLst>
                <a:ext uri="{FF2B5EF4-FFF2-40B4-BE49-F238E27FC236}">
                  <a16:creationId xmlns:a16="http://schemas.microsoft.com/office/drawing/2014/main" id="{F4C93ABE-0C16-2226-90C7-0AB2234E28A5}"/>
                </a:ext>
              </a:extLst>
            </p:cNvPr>
            <p:cNvSpPr txBox="1"/>
            <p:nvPr/>
          </p:nvSpPr>
          <p:spPr>
            <a:xfrm>
              <a:off x="2874601" y="3038407"/>
              <a:ext cx="4371088"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Y</a:t>
              </a:r>
            </a:p>
          </p:txBody>
        </p:sp>
        <p:sp>
          <p:nvSpPr>
            <p:cNvPr id="10" name="Oval 9">
              <a:extLst>
                <a:ext uri="{FF2B5EF4-FFF2-40B4-BE49-F238E27FC236}">
                  <a16:creationId xmlns:a16="http://schemas.microsoft.com/office/drawing/2014/main" id="{F381AC78-B661-356A-2572-EC6010593743}"/>
                </a:ext>
              </a:extLst>
            </p:cNvPr>
            <p:cNvSpPr/>
            <p:nvPr/>
          </p:nvSpPr>
          <p:spPr>
            <a:xfrm>
              <a:off x="3904593" y="4561928"/>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C5A7D3F-8998-8E34-032D-804AF8A08DFA}"/>
                </a:ext>
              </a:extLst>
            </p:cNvPr>
            <p:cNvSpPr/>
            <p:nvPr/>
          </p:nvSpPr>
          <p:spPr>
            <a:xfrm>
              <a:off x="5047593" y="4576216"/>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67F415C-7DDF-358F-54D0-ACD95B5D1F66}"/>
                </a:ext>
              </a:extLst>
            </p:cNvPr>
            <p:cNvSpPr/>
            <p:nvPr/>
          </p:nvSpPr>
          <p:spPr>
            <a:xfrm>
              <a:off x="4366555" y="3599904"/>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977C579-1149-1F2F-E827-75AC7431E28B}"/>
                </a:ext>
              </a:extLst>
            </p:cNvPr>
            <p:cNvSpPr/>
            <p:nvPr/>
          </p:nvSpPr>
          <p:spPr>
            <a:xfrm>
              <a:off x="6886019" y="361611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74A1259-9758-FA1D-CE3C-E38C6F3F2EA8}"/>
                </a:ext>
              </a:extLst>
            </p:cNvPr>
            <p:cNvSpPr/>
            <p:nvPr/>
          </p:nvSpPr>
          <p:spPr>
            <a:xfrm>
              <a:off x="5339321" y="2328823"/>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8591860-B1F6-5401-21C8-02F6C2FEE36D}"/>
                </a:ext>
              </a:extLst>
            </p:cNvPr>
            <p:cNvSpPr/>
            <p:nvPr/>
          </p:nvSpPr>
          <p:spPr>
            <a:xfrm>
              <a:off x="5472265" y="3428049"/>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DA59412-02AE-2939-7EAC-F9735D38EAB9}"/>
                </a:ext>
              </a:extLst>
            </p:cNvPr>
            <p:cNvSpPr/>
            <p:nvPr/>
          </p:nvSpPr>
          <p:spPr>
            <a:xfrm>
              <a:off x="5858129" y="280223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1E3A4D0-7DEF-2F88-BC1A-A66DA00BF2FB}"/>
                </a:ext>
              </a:extLst>
            </p:cNvPr>
            <p:cNvSpPr/>
            <p:nvPr/>
          </p:nvSpPr>
          <p:spPr>
            <a:xfrm>
              <a:off x="6153201" y="1560339"/>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F4EB3EC-C47D-91C6-BD67-BB35652F6D4A}"/>
                </a:ext>
              </a:extLst>
            </p:cNvPr>
            <p:cNvSpPr/>
            <p:nvPr/>
          </p:nvSpPr>
          <p:spPr>
            <a:xfrm>
              <a:off x="6694707" y="2432586"/>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CD465D5-7F01-5990-775B-492C7E6D320B}"/>
                </a:ext>
              </a:extLst>
            </p:cNvPr>
            <p:cNvSpPr/>
            <p:nvPr/>
          </p:nvSpPr>
          <p:spPr>
            <a:xfrm>
              <a:off x="7482648" y="173543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CA9BA12-D629-FF62-ABD2-5DCEB8EC9DC6}"/>
                </a:ext>
              </a:extLst>
            </p:cNvPr>
            <p:cNvSpPr/>
            <p:nvPr/>
          </p:nvSpPr>
          <p:spPr>
            <a:xfrm>
              <a:off x="5967248" y="4297692"/>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EB3DF24-6004-4372-C265-E16E745F03BA}"/>
                </a:ext>
              </a:extLst>
            </p:cNvPr>
            <p:cNvSpPr/>
            <p:nvPr/>
          </p:nvSpPr>
          <p:spPr>
            <a:xfrm>
              <a:off x="5089635" y="5353982"/>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 name="Straight Connector 2">
            <a:extLst>
              <a:ext uri="{FF2B5EF4-FFF2-40B4-BE49-F238E27FC236}">
                <a16:creationId xmlns:a16="http://schemas.microsoft.com/office/drawing/2014/main" id="{01AA2D14-F100-7AEB-3FA4-AC4AA2FCEC50}"/>
              </a:ext>
            </a:extLst>
          </p:cNvPr>
          <p:cNvCxnSpPr/>
          <p:nvPr/>
        </p:nvCxnSpPr>
        <p:spPr>
          <a:xfrm flipV="1">
            <a:off x="4114800" y="2339163"/>
            <a:ext cx="2902688" cy="3306725"/>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90E9D97-7708-DECB-A822-2DF1D9C4FA84}"/>
              </a:ext>
            </a:extLst>
          </p:cNvPr>
          <p:cNvSpPr txBox="1"/>
          <p:nvPr/>
        </p:nvSpPr>
        <p:spPr>
          <a:xfrm>
            <a:off x="8414762" y="2884174"/>
            <a:ext cx="3514968" cy="1015663"/>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Strong correlation between X and Y?</a:t>
            </a:r>
          </a:p>
        </p:txBody>
      </p:sp>
    </p:spTree>
    <p:extLst>
      <p:ext uri="{BB962C8B-B14F-4D97-AF65-F5344CB8AC3E}">
        <p14:creationId xmlns:p14="http://schemas.microsoft.com/office/powerpoint/2010/main" val="31168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49D39-2080-BF75-3390-F6750EE70FA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1E8133A-7E87-949E-59F5-02CFA0E28F31}"/>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pSp>
        <p:nvGrpSpPr>
          <p:cNvPr id="23" name="Group 22">
            <a:extLst>
              <a:ext uri="{FF2B5EF4-FFF2-40B4-BE49-F238E27FC236}">
                <a16:creationId xmlns:a16="http://schemas.microsoft.com/office/drawing/2014/main" id="{1CA1B1D1-0BFA-C35E-62A1-81476EFD8902}"/>
              </a:ext>
            </a:extLst>
          </p:cNvPr>
          <p:cNvGrpSpPr/>
          <p:nvPr/>
        </p:nvGrpSpPr>
        <p:grpSpPr>
          <a:xfrm>
            <a:off x="3105830" y="2028497"/>
            <a:ext cx="5092240" cy="4632156"/>
            <a:chOff x="2874601" y="1145628"/>
            <a:chExt cx="6069702" cy="5546556"/>
          </a:xfrm>
        </p:grpSpPr>
        <p:cxnSp>
          <p:nvCxnSpPr>
            <p:cNvPr id="6" name="Straight Arrow Connector 5">
              <a:extLst>
                <a:ext uri="{FF2B5EF4-FFF2-40B4-BE49-F238E27FC236}">
                  <a16:creationId xmlns:a16="http://schemas.microsoft.com/office/drawing/2014/main" id="{11B50507-04ED-362A-1EBC-112CB83BC946}"/>
                </a:ext>
              </a:extLst>
            </p:cNvPr>
            <p:cNvCxnSpPr>
              <a:cxnSpLocks/>
            </p:cNvCxnSpPr>
            <p:nvPr/>
          </p:nvCxnSpPr>
          <p:spPr>
            <a:xfrm flipV="1">
              <a:off x="3447393" y="1145628"/>
              <a:ext cx="0" cy="486410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8682D65A-171A-1563-7603-8D517F08B849}"/>
                </a:ext>
              </a:extLst>
            </p:cNvPr>
            <p:cNvCxnSpPr>
              <a:cxnSpLocks/>
            </p:cNvCxnSpPr>
            <p:nvPr/>
          </p:nvCxnSpPr>
          <p:spPr>
            <a:xfrm>
              <a:off x="3447393" y="6009728"/>
              <a:ext cx="549691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90ED9D61-E8BB-A31B-6A7C-0179DEE027C1}"/>
                </a:ext>
              </a:extLst>
            </p:cNvPr>
            <p:cNvSpPr txBox="1"/>
            <p:nvPr/>
          </p:nvSpPr>
          <p:spPr>
            <a:xfrm>
              <a:off x="5877910" y="6138186"/>
              <a:ext cx="1849523"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X</a:t>
              </a:r>
            </a:p>
          </p:txBody>
        </p:sp>
        <p:sp>
          <p:nvSpPr>
            <p:cNvPr id="9" name="TextBox 8">
              <a:extLst>
                <a:ext uri="{FF2B5EF4-FFF2-40B4-BE49-F238E27FC236}">
                  <a16:creationId xmlns:a16="http://schemas.microsoft.com/office/drawing/2014/main" id="{B3D1071A-5C04-16A6-BFEA-7F7F4C96265F}"/>
                </a:ext>
              </a:extLst>
            </p:cNvPr>
            <p:cNvSpPr txBox="1"/>
            <p:nvPr/>
          </p:nvSpPr>
          <p:spPr>
            <a:xfrm>
              <a:off x="2874601" y="3038407"/>
              <a:ext cx="4371088"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Y</a:t>
              </a:r>
            </a:p>
          </p:txBody>
        </p:sp>
        <p:sp>
          <p:nvSpPr>
            <p:cNvPr id="10" name="Oval 9">
              <a:extLst>
                <a:ext uri="{FF2B5EF4-FFF2-40B4-BE49-F238E27FC236}">
                  <a16:creationId xmlns:a16="http://schemas.microsoft.com/office/drawing/2014/main" id="{F399D290-240A-65FE-AE83-FB9717EA094A}"/>
                </a:ext>
              </a:extLst>
            </p:cNvPr>
            <p:cNvSpPr/>
            <p:nvPr/>
          </p:nvSpPr>
          <p:spPr>
            <a:xfrm>
              <a:off x="3904593" y="4561928"/>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E614128-6614-BC90-0A22-A27DF86000CE}"/>
                </a:ext>
              </a:extLst>
            </p:cNvPr>
            <p:cNvSpPr/>
            <p:nvPr/>
          </p:nvSpPr>
          <p:spPr>
            <a:xfrm>
              <a:off x="5047593" y="4576216"/>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A284C5B-DEF6-9FB2-AF75-9AF760CB8B08}"/>
                </a:ext>
              </a:extLst>
            </p:cNvPr>
            <p:cNvSpPr/>
            <p:nvPr/>
          </p:nvSpPr>
          <p:spPr>
            <a:xfrm>
              <a:off x="4366555" y="3599904"/>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9F8A95C-4BFD-C5DD-18C8-FCA229AF88B6}"/>
                </a:ext>
              </a:extLst>
            </p:cNvPr>
            <p:cNvSpPr/>
            <p:nvPr/>
          </p:nvSpPr>
          <p:spPr>
            <a:xfrm>
              <a:off x="6886019" y="361611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793925C-DFA4-E18E-7B40-2B47032D3C12}"/>
                </a:ext>
              </a:extLst>
            </p:cNvPr>
            <p:cNvSpPr/>
            <p:nvPr/>
          </p:nvSpPr>
          <p:spPr>
            <a:xfrm>
              <a:off x="5339321" y="2328823"/>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E7E0FDB-E760-8762-C021-846C0A35FEB0}"/>
                </a:ext>
              </a:extLst>
            </p:cNvPr>
            <p:cNvSpPr/>
            <p:nvPr/>
          </p:nvSpPr>
          <p:spPr>
            <a:xfrm>
              <a:off x="5472265" y="3428049"/>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BE245D3-15AB-967B-1285-FDCDAAA415FB}"/>
                </a:ext>
              </a:extLst>
            </p:cNvPr>
            <p:cNvSpPr/>
            <p:nvPr/>
          </p:nvSpPr>
          <p:spPr>
            <a:xfrm>
              <a:off x="5858129" y="280223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2BD32A5-A4FC-D178-190C-34F1DEF64D30}"/>
                </a:ext>
              </a:extLst>
            </p:cNvPr>
            <p:cNvSpPr/>
            <p:nvPr/>
          </p:nvSpPr>
          <p:spPr>
            <a:xfrm>
              <a:off x="6153201" y="1560339"/>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75A0876-2803-6FAC-65B0-CC3A2837F51C}"/>
                </a:ext>
              </a:extLst>
            </p:cNvPr>
            <p:cNvSpPr/>
            <p:nvPr/>
          </p:nvSpPr>
          <p:spPr>
            <a:xfrm>
              <a:off x="6694707" y="2432586"/>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6141F92-E3F6-1016-3EB3-3FFD019D0BED}"/>
                </a:ext>
              </a:extLst>
            </p:cNvPr>
            <p:cNvSpPr/>
            <p:nvPr/>
          </p:nvSpPr>
          <p:spPr>
            <a:xfrm>
              <a:off x="7482648" y="1735437"/>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716A95C-87D3-2E7A-9D75-723710ECDD5E}"/>
                </a:ext>
              </a:extLst>
            </p:cNvPr>
            <p:cNvSpPr/>
            <p:nvPr/>
          </p:nvSpPr>
          <p:spPr>
            <a:xfrm>
              <a:off x="5967248" y="429769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5F060F25-AE34-1024-D599-8AC0BA5C89B6}"/>
                </a:ext>
              </a:extLst>
            </p:cNvPr>
            <p:cNvSpPr/>
            <p:nvPr/>
          </p:nvSpPr>
          <p:spPr>
            <a:xfrm>
              <a:off x="5089635" y="535398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2718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C33F9-DA0B-3B10-F81B-4D47E8A467D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48465E6-FA73-8D02-1E54-57550324C8BD}"/>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pSp>
        <p:nvGrpSpPr>
          <p:cNvPr id="23" name="Group 22">
            <a:extLst>
              <a:ext uri="{FF2B5EF4-FFF2-40B4-BE49-F238E27FC236}">
                <a16:creationId xmlns:a16="http://schemas.microsoft.com/office/drawing/2014/main" id="{9AE38DD0-6C4A-88AA-EE7D-58F642375C73}"/>
              </a:ext>
            </a:extLst>
          </p:cNvPr>
          <p:cNvGrpSpPr/>
          <p:nvPr/>
        </p:nvGrpSpPr>
        <p:grpSpPr>
          <a:xfrm>
            <a:off x="3105830" y="2028497"/>
            <a:ext cx="5092240" cy="4632156"/>
            <a:chOff x="2874601" y="1145628"/>
            <a:chExt cx="6069702" cy="5546556"/>
          </a:xfrm>
        </p:grpSpPr>
        <p:cxnSp>
          <p:nvCxnSpPr>
            <p:cNvPr id="6" name="Straight Arrow Connector 5">
              <a:extLst>
                <a:ext uri="{FF2B5EF4-FFF2-40B4-BE49-F238E27FC236}">
                  <a16:creationId xmlns:a16="http://schemas.microsoft.com/office/drawing/2014/main" id="{1F5C1C5B-CFB4-3492-2C98-D07CABC847AE}"/>
                </a:ext>
              </a:extLst>
            </p:cNvPr>
            <p:cNvCxnSpPr>
              <a:cxnSpLocks/>
            </p:cNvCxnSpPr>
            <p:nvPr/>
          </p:nvCxnSpPr>
          <p:spPr>
            <a:xfrm flipV="1">
              <a:off x="3447393" y="1145628"/>
              <a:ext cx="0" cy="486410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F15CF759-9BED-B196-B487-2BA320467041}"/>
                </a:ext>
              </a:extLst>
            </p:cNvPr>
            <p:cNvCxnSpPr>
              <a:cxnSpLocks/>
            </p:cNvCxnSpPr>
            <p:nvPr/>
          </p:nvCxnSpPr>
          <p:spPr>
            <a:xfrm>
              <a:off x="3447393" y="6009728"/>
              <a:ext cx="549691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53D69EE9-E8CB-B700-FFB5-913D8B4F8819}"/>
                </a:ext>
              </a:extLst>
            </p:cNvPr>
            <p:cNvSpPr txBox="1"/>
            <p:nvPr/>
          </p:nvSpPr>
          <p:spPr>
            <a:xfrm>
              <a:off x="5877910" y="6138186"/>
              <a:ext cx="1849523"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X</a:t>
              </a:r>
            </a:p>
          </p:txBody>
        </p:sp>
        <p:sp>
          <p:nvSpPr>
            <p:cNvPr id="9" name="TextBox 8">
              <a:extLst>
                <a:ext uri="{FF2B5EF4-FFF2-40B4-BE49-F238E27FC236}">
                  <a16:creationId xmlns:a16="http://schemas.microsoft.com/office/drawing/2014/main" id="{D587344A-6C34-299C-08FC-A9A166C6D01D}"/>
                </a:ext>
              </a:extLst>
            </p:cNvPr>
            <p:cNvSpPr txBox="1"/>
            <p:nvPr/>
          </p:nvSpPr>
          <p:spPr>
            <a:xfrm>
              <a:off x="2874601" y="3038407"/>
              <a:ext cx="4371088"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Y</a:t>
              </a:r>
            </a:p>
          </p:txBody>
        </p:sp>
        <p:sp>
          <p:nvSpPr>
            <p:cNvPr id="10" name="Oval 9">
              <a:extLst>
                <a:ext uri="{FF2B5EF4-FFF2-40B4-BE49-F238E27FC236}">
                  <a16:creationId xmlns:a16="http://schemas.microsoft.com/office/drawing/2014/main" id="{F8349D0A-D400-CB5D-7BAE-116359F00D28}"/>
                </a:ext>
              </a:extLst>
            </p:cNvPr>
            <p:cNvSpPr/>
            <p:nvPr/>
          </p:nvSpPr>
          <p:spPr>
            <a:xfrm>
              <a:off x="3904593" y="4561928"/>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A4FB163-143C-BB60-0B11-F44D9D08BD0B}"/>
                </a:ext>
              </a:extLst>
            </p:cNvPr>
            <p:cNvSpPr/>
            <p:nvPr/>
          </p:nvSpPr>
          <p:spPr>
            <a:xfrm>
              <a:off x="5047593" y="4576216"/>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DA8AFDA-4A83-88D1-D977-B842592EA5BF}"/>
                </a:ext>
              </a:extLst>
            </p:cNvPr>
            <p:cNvSpPr/>
            <p:nvPr/>
          </p:nvSpPr>
          <p:spPr>
            <a:xfrm>
              <a:off x="4366555" y="3599904"/>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84923D4-E7BA-E358-F357-1648BFFA90B4}"/>
                </a:ext>
              </a:extLst>
            </p:cNvPr>
            <p:cNvSpPr/>
            <p:nvPr/>
          </p:nvSpPr>
          <p:spPr>
            <a:xfrm>
              <a:off x="6886019" y="361611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FED7043-8B8F-F199-7FBB-ECD5E713FB60}"/>
                </a:ext>
              </a:extLst>
            </p:cNvPr>
            <p:cNvSpPr/>
            <p:nvPr/>
          </p:nvSpPr>
          <p:spPr>
            <a:xfrm>
              <a:off x="5339321" y="2328823"/>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7DCDA60-1177-166C-16D4-1CE34D8212C5}"/>
                </a:ext>
              </a:extLst>
            </p:cNvPr>
            <p:cNvSpPr/>
            <p:nvPr/>
          </p:nvSpPr>
          <p:spPr>
            <a:xfrm>
              <a:off x="5472265" y="3428049"/>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5F57557-157D-BC8C-01E7-864FD6097DBC}"/>
                </a:ext>
              </a:extLst>
            </p:cNvPr>
            <p:cNvSpPr/>
            <p:nvPr/>
          </p:nvSpPr>
          <p:spPr>
            <a:xfrm>
              <a:off x="5858129" y="280223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C16F8E5-2AC2-F2BD-986F-A360E763D271}"/>
                </a:ext>
              </a:extLst>
            </p:cNvPr>
            <p:cNvSpPr/>
            <p:nvPr/>
          </p:nvSpPr>
          <p:spPr>
            <a:xfrm>
              <a:off x="6153201" y="1560339"/>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36E5D12-5F87-7F60-7A5E-EEEF46B11E94}"/>
                </a:ext>
              </a:extLst>
            </p:cNvPr>
            <p:cNvSpPr/>
            <p:nvPr/>
          </p:nvSpPr>
          <p:spPr>
            <a:xfrm>
              <a:off x="6694707" y="2432586"/>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EB15538-B3BC-B5BE-A4B8-8033DF3D5D5F}"/>
                </a:ext>
              </a:extLst>
            </p:cNvPr>
            <p:cNvSpPr/>
            <p:nvPr/>
          </p:nvSpPr>
          <p:spPr>
            <a:xfrm>
              <a:off x="7482648" y="1735437"/>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AC1256A-9CD4-3BE3-85D9-1DF3849DF72D}"/>
                </a:ext>
              </a:extLst>
            </p:cNvPr>
            <p:cNvSpPr/>
            <p:nvPr/>
          </p:nvSpPr>
          <p:spPr>
            <a:xfrm>
              <a:off x="5967248" y="429769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4154584F-DA8D-31A9-88EF-873B93B7A8BA}"/>
                </a:ext>
              </a:extLst>
            </p:cNvPr>
            <p:cNvSpPr/>
            <p:nvPr/>
          </p:nvSpPr>
          <p:spPr>
            <a:xfrm>
              <a:off x="5089635" y="535398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 name="Straight Connector 1">
            <a:extLst>
              <a:ext uri="{FF2B5EF4-FFF2-40B4-BE49-F238E27FC236}">
                <a16:creationId xmlns:a16="http://schemas.microsoft.com/office/drawing/2014/main" id="{FF216E7E-AD69-D02F-8020-72B1DD21689D}"/>
              </a:ext>
            </a:extLst>
          </p:cNvPr>
          <p:cNvCxnSpPr>
            <a:cxnSpLocks/>
          </p:cNvCxnSpPr>
          <p:nvPr/>
        </p:nvCxnSpPr>
        <p:spPr>
          <a:xfrm>
            <a:off x="3817088" y="4922874"/>
            <a:ext cx="2083981"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F118FE7-8823-C14E-AF2A-3C865CD5FA7D}"/>
              </a:ext>
            </a:extLst>
          </p:cNvPr>
          <p:cNvCxnSpPr>
            <a:cxnSpLocks/>
          </p:cNvCxnSpPr>
          <p:nvPr/>
        </p:nvCxnSpPr>
        <p:spPr>
          <a:xfrm>
            <a:off x="4990214" y="3661144"/>
            <a:ext cx="1782726"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9D926C2-E9DC-132C-29DA-F9625DC93888}"/>
              </a:ext>
            </a:extLst>
          </p:cNvPr>
          <p:cNvCxnSpPr>
            <a:cxnSpLocks/>
            <a:endCxn id="20" idx="7"/>
          </p:cNvCxnSpPr>
          <p:nvPr/>
        </p:nvCxnSpPr>
        <p:spPr>
          <a:xfrm>
            <a:off x="5833730" y="2527005"/>
            <a:ext cx="1292675" cy="20471"/>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B6CDDDE-98A8-A694-57CF-72C878382BDF}"/>
              </a:ext>
            </a:extLst>
          </p:cNvPr>
          <p:cNvSpPr txBox="1"/>
          <p:nvPr/>
        </p:nvSpPr>
        <p:spPr>
          <a:xfrm>
            <a:off x="8414762" y="2884174"/>
            <a:ext cx="3514968" cy="1015663"/>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No correlation between X and Y</a:t>
            </a:r>
          </a:p>
        </p:txBody>
      </p:sp>
    </p:spTree>
    <p:extLst>
      <p:ext uri="{BB962C8B-B14F-4D97-AF65-F5344CB8AC3E}">
        <p14:creationId xmlns:p14="http://schemas.microsoft.com/office/powerpoint/2010/main" val="2479378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C8DEC-87AD-21FD-0F20-921705C08FD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F693DE5-5B8D-EC9B-092B-D308AD59FCF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‘Simpson’s Paradox’</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pSp>
        <p:nvGrpSpPr>
          <p:cNvPr id="23" name="Group 22">
            <a:extLst>
              <a:ext uri="{FF2B5EF4-FFF2-40B4-BE49-F238E27FC236}">
                <a16:creationId xmlns:a16="http://schemas.microsoft.com/office/drawing/2014/main" id="{06DA88B4-67DD-3ADD-2E6B-16B3CEB353DC}"/>
              </a:ext>
            </a:extLst>
          </p:cNvPr>
          <p:cNvGrpSpPr/>
          <p:nvPr/>
        </p:nvGrpSpPr>
        <p:grpSpPr>
          <a:xfrm>
            <a:off x="3105830" y="2028497"/>
            <a:ext cx="5092240" cy="4632156"/>
            <a:chOff x="2874601" y="1145628"/>
            <a:chExt cx="6069702" cy="5546556"/>
          </a:xfrm>
        </p:grpSpPr>
        <p:cxnSp>
          <p:nvCxnSpPr>
            <p:cNvPr id="6" name="Straight Arrow Connector 5">
              <a:extLst>
                <a:ext uri="{FF2B5EF4-FFF2-40B4-BE49-F238E27FC236}">
                  <a16:creationId xmlns:a16="http://schemas.microsoft.com/office/drawing/2014/main" id="{AADCBD2A-9321-0ABB-9E3F-81AADCCF1043}"/>
                </a:ext>
              </a:extLst>
            </p:cNvPr>
            <p:cNvCxnSpPr>
              <a:cxnSpLocks/>
            </p:cNvCxnSpPr>
            <p:nvPr/>
          </p:nvCxnSpPr>
          <p:spPr>
            <a:xfrm flipV="1">
              <a:off x="3447393" y="1145628"/>
              <a:ext cx="0" cy="486410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DA62284C-A932-B3BB-F383-E030ABDAA839}"/>
                </a:ext>
              </a:extLst>
            </p:cNvPr>
            <p:cNvCxnSpPr>
              <a:cxnSpLocks/>
            </p:cNvCxnSpPr>
            <p:nvPr/>
          </p:nvCxnSpPr>
          <p:spPr>
            <a:xfrm>
              <a:off x="3447393" y="6009728"/>
              <a:ext cx="549691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404424E2-5273-EAAB-5D68-840E85B0B9D0}"/>
                </a:ext>
              </a:extLst>
            </p:cNvPr>
            <p:cNvSpPr txBox="1"/>
            <p:nvPr/>
          </p:nvSpPr>
          <p:spPr>
            <a:xfrm>
              <a:off x="5877910" y="6138186"/>
              <a:ext cx="1849523"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X</a:t>
              </a:r>
            </a:p>
          </p:txBody>
        </p:sp>
        <p:sp>
          <p:nvSpPr>
            <p:cNvPr id="9" name="TextBox 8">
              <a:extLst>
                <a:ext uri="{FF2B5EF4-FFF2-40B4-BE49-F238E27FC236}">
                  <a16:creationId xmlns:a16="http://schemas.microsoft.com/office/drawing/2014/main" id="{E228344E-AB67-5787-A38E-864FCDDDB831}"/>
                </a:ext>
              </a:extLst>
            </p:cNvPr>
            <p:cNvSpPr txBox="1"/>
            <p:nvPr/>
          </p:nvSpPr>
          <p:spPr>
            <a:xfrm>
              <a:off x="2874601" y="3038407"/>
              <a:ext cx="4371088"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Y</a:t>
              </a:r>
            </a:p>
          </p:txBody>
        </p:sp>
        <p:sp>
          <p:nvSpPr>
            <p:cNvPr id="10" name="Oval 9">
              <a:extLst>
                <a:ext uri="{FF2B5EF4-FFF2-40B4-BE49-F238E27FC236}">
                  <a16:creationId xmlns:a16="http://schemas.microsoft.com/office/drawing/2014/main" id="{85279022-F8F1-5362-6395-96B116D506BE}"/>
                </a:ext>
              </a:extLst>
            </p:cNvPr>
            <p:cNvSpPr/>
            <p:nvPr/>
          </p:nvSpPr>
          <p:spPr>
            <a:xfrm>
              <a:off x="3904593" y="4561928"/>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13FE537-FBDB-C86B-34A8-AF5B6219AD45}"/>
                </a:ext>
              </a:extLst>
            </p:cNvPr>
            <p:cNvSpPr/>
            <p:nvPr/>
          </p:nvSpPr>
          <p:spPr>
            <a:xfrm>
              <a:off x="5047593" y="4576216"/>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E2C4C46-2A5F-78B2-D2EA-19B22E250D8A}"/>
                </a:ext>
              </a:extLst>
            </p:cNvPr>
            <p:cNvSpPr/>
            <p:nvPr/>
          </p:nvSpPr>
          <p:spPr>
            <a:xfrm>
              <a:off x="4366555" y="3599904"/>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95039D4-08B5-6E8A-9992-19F45A830512}"/>
                </a:ext>
              </a:extLst>
            </p:cNvPr>
            <p:cNvSpPr/>
            <p:nvPr/>
          </p:nvSpPr>
          <p:spPr>
            <a:xfrm>
              <a:off x="6886019" y="361611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FC5DB90-58E4-A95D-F1F2-EFA469016970}"/>
                </a:ext>
              </a:extLst>
            </p:cNvPr>
            <p:cNvSpPr/>
            <p:nvPr/>
          </p:nvSpPr>
          <p:spPr>
            <a:xfrm>
              <a:off x="5339321" y="2328823"/>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6728F2F-8563-2DF5-EAAD-0DA1EE28EC84}"/>
                </a:ext>
              </a:extLst>
            </p:cNvPr>
            <p:cNvSpPr/>
            <p:nvPr/>
          </p:nvSpPr>
          <p:spPr>
            <a:xfrm>
              <a:off x="5472265" y="3428049"/>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FEC0AD2-7240-2FC8-9DEE-C18E51052223}"/>
                </a:ext>
              </a:extLst>
            </p:cNvPr>
            <p:cNvSpPr/>
            <p:nvPr/>
          </p:nvSpPr>
          <p:spPr>
            <a:xfrm>
              <a:off x="5858129" y="280223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C9DC75D-8864-BA1E-52C0-7ABABB0538F7}"/>
                </a:ext>
              </a:extLst>
            </p:cNvPr>
            <p:cNvSpPr/>
            <p:nvPr/>
          </p:nvSpPr>
          <p:spPr>
            <a:xfrm>
              <a:off x="6153201" y="1560339"/>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A60024A-26DE-8052-28E5-96876F20D729}"/>
                </a:ext>
              </a:extLst>
            </p:cNvPr>
            <p:cNvSpPr/>
            <p:nvPr/>
          </p:nvSpPr>
          <p:spPr>
            <a:xfrm>
              <a:off x="6694707" y="2432586"/>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F5BC6DD-5F3B-DC83-673C-F93522E81185}"/>
                </a:ext>
              </a:extLst>
            </p:cNvPr>
            <p:cNvSpPr/>
            <p:nvPr/>
          </p:nvSpPr>
          <p:spPr>
            <a:xfrm>
              <a:off x="7482648" y="1735437"/>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A0AE64C-4163-99FE-86E9-5C0467F039A3}"/>
                </a:ext>
              </a:extLst>
            </p:cNvPr>
            <p:cNvSpPr/>
            <p:nvPr/>
          </p:nvSpPr>
          <p:spPr>
            <a:xfrm>
              <a:off x="5967248" y="429769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CA6E7B78-E8F5-DC83-41CF-F55D9AC82B4A}"/>
                </a:ext>
              </a:extLst>
            </p:cNvPr>
            <p:cNvSpPr/>
            <p:nvPr/>
          </p:nvSpPr>
          <p:spPr>
            <a:xfrm>
              <a:off x="5089635" y="535398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 name="Straight Connector 1">
            <a:extLst>
              <a:ext uri="{FF2B5EF4-FFF2-40B4-BE49-F238E27FC236}">
                <a16:creationId xmlns:a16="http://schemas.microsoft.com/office/drawing/2014/main" id="{BCB53690-81AB-23E2-6FC4-68CF2109526D}"/>
              </a:ext>
            </a:extLst>
          </p:cNvPr>
          <p:cNvCxnSpPr>
            <a:cxnSpLocks/>
          </p:cNvCxnSpPr>
          <p:nvPr/>
        </p:nvCxnSpPr>
        <p:spPr>
          <a:xfrm>
            <a:off x="3817088" y="4922874"/>
            <a:ext cx="2083981"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26B7CCF5-3743-6A86-9717-43A725AEB766}"/>
              </a:ext>
            </a:extLst>
          </p:cNvPr>
          <p:cNvCxnSpPr>
            <a:cxnSpLocks/>
          </p:cNvCxnSpPr>
          <p:nvPr/>
        </p:nvCxnSpPr>
        <p:spPr>
          <a:xfrm>
            <a:off x="4990214" y="3661144"/>
            <a:ext cx="1782726"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E3F63C0-D932-C0A0-B682-E33E23A81501}"/>
              </a:ext>
            </a:extLst>
          </p:cNvPr>
          <p:cNvCxnSpPr>
            <a:cxnSpLocks/>
            <a:endCxn id="20" idx="7"/>
          </p:cNvCxnSpPr>
          <p:nvPr/>
        </p:nvCxnSpPr>
        <p:spPr>
          <a:xfrm>
            <a:off x="5833730" y="2527005"/>
            <a:ext cx="1292675" cy="20471"/>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7091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3669C-C1FC-B502-EB8B-614FD7F5C88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0B9884A-28A8-49FB-8B1F-BA1512A418B3}"/>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‘Simpson’s Paradox’</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pSp>
        <p:nvGrpSpPr>
          <p:cNvPr id="23" name="Group 22">
            <a:extLst>
              <a:ext uri="{FF2B5EF4-FFF2-40B4-BE49-F238E27FC236}">
                <a16:creationId xmlns:a16="http://schemas.microsoft.com/office/drawing/2014/main" id="{13CF941D-F9F4-4296-9A4A-2FFC4313F4D0}"/>
              </a:ext>
            </a:extLst>
          </p:cNvPr>
          <p:cNvGrpSpPr/>
          <p:nvPr/>
        </p:nvGrpSpPr>
        <p:grpSpPr>
          <a:xfrm>
            <a:off x="3105830" y="2028497"/>
            <a:ext cx="5092240" cy="4632156"/>
            <a:chOff x="2874601" y="1145628"/>
            <a:chExt cx="6069702" cy="5546556"/>
          </a:xfrm>
        </p:grpSpPr>
        <p:cxnSp>
          <p:nvCxnSpPr>
            <p:cNvPr id="6" name="Straight Arrow Connector 5">
              <a:extLst>
                <a:ext uri="{FF2B5EF4-FFF2-40B4-BE49-F238E27FC236}">
                  <a16:creationId xmlns:a16="http://schemas.microsoft.com/office/drawing/2014/main" id="{C2AFD1E0-9957-A7C6-1C43-48D0B0191DC8}"/>
                </a:ext>
              </a:extLst>
            </p:cNvPr>
            <p:cNvCxnSpPr>
              <a:cxnSpLocks/>
            </p:cNvCxnSpPr>
            <p:nvPr/>
          </p:nvCxnSpPr>
          <p:spPr>
            <a:xfrm flipV="1">
              <a:off x="3447393" y="1145628"/>
              <a:ext cx="0" cy="486410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394CDD65-57AE-85F7-F759-CF0F6DF9987D}"/>
                </a:ext>
              </a:extLst>
            </p:cNvPr>
            <p:cNvCxnSpPr>
              <a:cxnSpLocks/>
            </p:cNvCxnSpPr>
            <p:nvPr/>
          </p:nvCxnSpPr>
          <p:spPr>
            <a:xfrm>
              <a:off x="3447393" y="6009728"/>
              <a:ext cx="549691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17B8064-F00E-21EC-421E-893A1ACB88D0}"/>
                </a:ext>
              </a:extLst>
            </p:cNvPr>
            <p:cNvSpPr txBox="1"/>
            <p:nvPr/>
          </p:nvSpPr>
          <p:spPr>
            <a:xfrm>
              <a:off x="5877910" y="6138186"/>
              <a:ext cx="1849523"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X</a:t>
              </a:r>
            </a:p>
          </p:txBody>
        </p:sp>
        <p:sp>
          <p:nvSpPr>
            <p:cNvPr id="9" name="TextBox 8">
              <a:extLst>
                <a:ext uri="{FF2B5EF4-FFF2-40B4-BE49-F238E27FC236}">
                  <a16:creationId xmlns:a16="http://schemas.microsoft.com/office/drawing/2014/main" id="{392F50D2-B709-60B5-2ECB-F5173F1A1420}"/>
                </a:ext>
              </a:extLst>
            </p:cNvPr>
            <p:cNvSpPr txBox="1"/>
            <p:nvPr/>
          </p:nvSpPr>
          <p:spPr>
            <a:xfrm>
              <a:off x="2874601" y="3038407"/>
              <a:ext cx="4371088" cy="553998"/>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Y</a:t>
              </a:r>
            </a:p>
          </p:txBody>
        </p:sp>
        <p:sp>
          <p:nvSpPr>
            <p:cNvPr id="10" name="Oval 9">
              <a:extLst>
                <a:ext uri="{FF2B5EF4-FFF2-40B4-BE49-F238E27FC236}">
                  <a16:creationId xmlns:a16="http://schemas.microsoft.com/office/drawing/2014/main" id="{F6F99686-18EB-B6BE-0DE7-6F93D8CEC327}"/>
                </a:ext>
              </a:extLst>
            </p:cNvPr>
            <p:cNvSpPr/>
            <p:nvPr/>
          </p:nvSpPr>
          <p:spPr>
            <a:xfrm>
              <a:off x="3904593" y="4561928"/>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7357E6C-8011-1010-D099-C03B6569F963}"/>
                </a:ext>
              </a:extLst>
            </p:cNvPr>
            <p:cNvSpPr/>
            <p:nvPr/>
          </p:nvSpPr>
          <p:spPr>
            <a:xfrm>
              <a:off x="5047593" y="4576216"/>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CC5B88C-8E13-AF56-753A-2DE6F841A991}"/>
                </a:ext>
              </a:extLst>
            </p:cNvPr>
            <p:cNvSpPr/>
            <p:nvPr/>
          </p:nvSpPr>
          <p:spPr>
            <a:xfrm>
              <a:off x="4366555" y="3599904"/>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21B6A5F-155B-C0B7-F2DA-EB2D9436512F}"/>
                </a:ext>
              </a:extLst>
            </p:cNvPr>
            <p:cNvSpPr/>
            <p:nvPr/>
          </p:nvSpPr>
          <p:spPr>
            <a:xfrm>
              <a:off x="6886019" y="361611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A051C2A-AA7E-1C02-7BF9-C1627108900E}"/>
                </a:ext>
              </a:extLst>
            </p:cNvPr>
            <p:cNvSpPr/>
            <p:nvPr/>
          </p:nvSpPr>
          <p:spPr>
            <a:xfrm>
              <a:off x="5339321" y="2328823"/>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8ACE662-B882-B762-AB56-491E438F5515}"/>
                </a:ext>
              </a:extLst>
            </p:cNvPr>
            <p:cNvSpPr/>
            <p:nvPr/>
          </p:nvSpPr>
          <p:spPr>
            <a:xfrm>
              <a:off x="5472265" y="3428049"/>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A20DD78-9F84-9F67-CBB5-1BD67913DD8C}"/>
                </a:ext>
              </a:extLst>
            </p:cNvPr>
            <p:cNvSpPr/>
            <p:nvPr/>
          </p:nvSpPr>
          <p:spPr>
            <a:xfrm>
              <a:off x="5858129" y="280223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2EA7EB9-321E-F064-A570-74C50D37C987}"/>
                </a:ext>
              </a:extLst>
            </p:cNvPr>
            <p:cNvSpPr/>
            <p:nvPr/>
          </p:nvSpPr>
          <p:spPr>
            <a:xfrm>
              <a:off x="6153201" y="1560339"/>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C3B973E-9201-3A35-9926-D4846312C8FD}"/>
                </a:ext>
              </a:extLst>
            </p:cNvPr>
            <p:cNvSpPr/>
            <p:nvPr/>
          </p:nvSpPr>
          <p:spPr>
            <a:xfrm>
              <a:off x="6694707" y="2432586"/>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153002CE-D29D-6E29-9888-EAC92E9B392E}"/>
                </a:ext>
              </a:extLst>
            </p:cNvPr>
            <p:cNvSpPr/>
            <p:nvPr/>
          </p:nvSpPr>
          <p:spPr>
            <a:xfrm>
              <a:off x="7482648" y="1735437"/>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697B149-F3E6-97A7-8307-9A6010AA2219}"/>
                </a:ext>
              </a:extLst>
            </p:cNvPr>
            <p:cNvSpPr/>
            <p:nvPr/>
          </p:nvSpPr>
          <p:spPr>
            <a:xfrm>
              <a:off x="5967248" y="429769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30A0101D-70E1-4E81-D9A6-9AD278B0ECF0}"/>
                </a:ext>
              </a:extLst>
            </p:cNvPr>
            <p:cNvSpPr/>
            <p:nvPr/>
          </p:nvSpPr>
          <p:spPr>
            <a:xfrm>
              <a:off x="5089635" y="535398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 name="Straight Connector 1">
            <a:extLst>
              <a:ext uri="{FF2B5EF4-FFF2-40B4-BE49-F238E27FC236}">
                <a16:creationId xmlns:a16="http://schemas.microsoft.com/office/drawing/2014/main" id="{F2834836-B088-D5A7-8537-1067B0AFCEC4}"/>
              </a:ext>
            </a:extLst>
          </p:cNvPr>
          <p:cNvCxnSpPr>
            <a:cxnSpLocks/>
          </p:cNvCxnSpPr>
          <p:nvPr/>
        </p:nvCxnSpPr>
        <p:spPr>
          <a:xfrm>
            <a:off x="3817088" y="4922874"/>
            <a:ext cx="2083981"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C4502AE6-791E-0142-315F-4E1AA4546F25}"/>
              </a:ext>
            </a:extLst>
          </p:cNvPr>
          <p:cNvCxnSpPr>
            <a:cxnSpLocks/>
          </p:cNvCxnSpPr>
          <p:nvPr/>
        </p:nvCxnSpPr>
        <p:spPr>
          <a:xfrm>
            <a:off x="4990214" y="3661144"/>
            <a:ext cx="1782726"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41F666-08FF-3270-8224-BD1893860D40}"/>
              </a:ext>
            </a:extLst>
          </p:cNvPr>
          <p:cNvCxnSpPr>
            <a:cxnSpLocks/>
            <a:endCxn id="20" idx="7"/>
          </p:cNvCxnSpPr>
          <p:nvPr/>
        </p:nvCxnSpPr>
        <p:spPr>
          <a:xfrm>
            <a:off x="5833730" y="2527005"/>
            <a:ext cx="1292675" cy="20471"/>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3182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2EA41-4D43-4D9A-48CD-DD587796B8B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9741433-59ED-95E9-F0E4-DE3E3E5BD755}"/>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‘Simpson’s Paradox’</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1F2EA5EE-7E54-4206-035B-1BAAC249C645}"/>
              </a:ext>
            </a:extLst>
          </p:cNvPr>
          <p:cNvSpPr txBox="1"/>
          <p:nvPr/>
        </p:nvSpPr>
        <p:spPr>
          <a:xfrm>
            <a:off x="589816" y="1601285"/>
            <a:ext cx="11291362" cy="553998"/>
          </a:xfrm>
          <a:prstGeom prst="rect">
            <a:avLst/>
          </a:prstGeom>
          <a:noFill/>
        </p:spPr>
        <p:txBody>
          <a:bodyPr wrap="square">
            <a:spAutoFit/>
          </a:bodyPr>
          <a:lstStyle/>
          <a:p>
            <a:pPr marL="457200" indent="-457200">
              <a:buFont typeface="Arial" panose="020B0604020202020204" pitchFamily="34" charset="0"/>
              <a:buChar char="•"/>
            </a:pPr>
            <a:r>
              <a:rPr lang="en-US" sz="3000">
                <a:solidFill>
                  <a:schemeClr val="accent6">
                    <a:lumMod val="50000"/>
                  </a:schemeClr>
                </a:solidFill>
                <a:latin typeface="Avenir Book" panose="02000503020000020003" pitchFamily="2" charset="0"/>
              </a:rPr>
              <a:t>Most classic example from Berkley:</a:t>
            </a:r>
            <a:endParaRPr lang="en-US" sz="3000" dirty="0">
              <a:solidFill>
                <a:schemeClr val="accent6">
                  <a:lumMod val="50000"/>
                </a:schemeClr>
              </a:solidFill>
              <a:latin typeface="Avenir Book" panose="02000503020000020003" pitchFamily="2" charset="0"/>
            </a:endParaRPr>
          </a:p>
        </p:txBody>
      </p:sp>
      <p:pic>
        <p:nvPicPr>
          <p:cNvPr id="2" name="Picture 1">
            <a:extLst>
              <a:ext uri="{FF2B5EF4-FFF2-40B4-BE49-F238E27FC236}">
                <a16:creationId xmlns:a16="http://schemas.microsoft.com/office/drawing/2014/main" id="{2A86A9A9-0165-FFDF-26A2-55A846DE7F09}"/>
              </a:ext>
            </a:extLst>
          </p:cNvPr>
          <p:cNvPicPr>
            <a:picLocks noChangeAspect="1"/>
          </p:cNvPicPr>
          <p:nvPr/>
        </p:nvPicPr>
        <p:blipFill>
          <a:blip r:embed="rId2"/>
          <a:stretch>
            <a:fillRect/>
          </a:stretch>
        </p:blipFill>
        <p:spPr>
          <a:xfrm>
            <a:off x="753139" y="3174178"/>
            <a:ext cx="4148470" cy="3021572"/>
          </a:xfrm>
          <a:prstGeom prst="rect">
            <a:avLst/>
          </a:prstGeom>
        </p:spPr>
      </p:pic>
      <p:sp>
        <p:nvSpPr>
          <p:cNvPr id="6" name="TextBox 5">
            <a:extLst>
              <a:ext uri="{FF2B5EF4-FFF2-40B4-BE49-F238E27FC236}">
                <a16:creationId xmlns:a16="http://schemas.microsoft.com/office/drawing/2014/main" id="{133CC796-1A04-5E64-C1BF-F7A615C5D054}"/>
              </a:ext>
            </a:extLst>
          </p:cNvPr>
          <p:cNvSpPr txBox="1"/>
          <p:nvPr/>
        </p:nvSpPr>
        <p:spPr>
          <a:xfrm>
            <a:off x="0" y="6611779"/>
            <a:ext cx="6097772" cy="246221"/>
          </a:xfrm>
          <a:prstGeom prst="rect">
            <a:avLst/>
          </a:prstGeom>
          <a:noFill/>
        </p:spPr>
        <p:txBody>
          <a:bodyPr wrap="square">
            <a:spAutoFit/>
          </a:bodyPr>
          <a:lstStyle/>
          <a:p>
            <a:r>
              <a:rPr lang="en-GB" sz="1000" dirty="0">
                <a:solidFill>
                  <a:srgbClr val="002060"/>
                </a:solidFill>
              </a:rPr>
              <a:t>Thanks to </a:t>
            </a:r>
            <a:r>
              <a:rPr lang="en-GB" sz="1000" dirty="0">
                <a:solidFill>
                  <a:srgbClr val="002060"/>
                </a:solidFill>
                <a:hlinkClick r:id="rId3"/>
              </a:rPr>
              <a:t>http://corysimon.github.io/articles/simpsons-paradox/</a:t>
            </a:r>
            <a:r>
              <a:rPr lang="en-GB" sz="1000" dirty="0">
                <a:solidFill>
                  <a:srgbClr val="002060"/>
                </a:solidFill>
              </a:rPr>
              <a:t> for graphs</a:t>
            </a:r>
          </a:p>
        </p:txBody>
      </p:sp>
    </p:spTree>
    <p:extLst>
      <p:ext uri="{BB962C8B-B14F-4D97-AF65-F5344CB8AC3E}">
        <p14:creationId xmlns:p14="http://schemas.microsoft.com/office/powerpoint/2010/main" val="1701102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1C84B-0B8E-A599-8C97-5EB523BEC7C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F88E690-E99E-16EA-7E21-729FC2E72B6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‘Simpson’s Paradox’</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20950FD3-0F2A-5915-224C-C367EAC53499}"/>
              </a:ext>
            </a:extLst>
          </p:cNvPr>
          <p:cNvSpPr txBox="1"/>
          <p:nvPr/>
        </p:nvSpPr>
        <p:spPr>
          <a:xfrm>
            <a:off x="589816" y="1601285"/>
            <a:ext cx="11291362" cy="553998"/>
          </a:xfrm>
          <a:prstGeom prst="rect">
            <a:avLst/>
          </a:prstGeom>
          <a:noFill/>
        </p:spPr>
        <p:txBody>
          <a:bodyPr wrap="square">
            <a:spAutoFit/>
          </a:bodyPr>
          <a:lstStyle/>
          <a:p>
            <a:pPr marL="457200" indent="-457200">
              <a:buFont typeface="Arial" panose="020B0604020202020204" pitchFamily="34" charset="0"/>
              <a:buChar char="•"/>
            </a:pPr>
            <a:r>
              <a:rPr lang="en-US" sz="3000">
                <a:solidFill>
                  <a:schemeClr val="accent6">
                    <a:lumMod val="50000"/>
                  </a:schemeClr>
                </a:solidFill>
                <a:latin typeface="Avenir Book" panose="02000503020000020003" pitchFamily="2" charset="0"/>
              </a:rPr>
              <a:t>Most classic example from Berkley:</a:t>
            </a:r>
            <a:endParaRPr lang="en-US" sz="3000" dirty="0">
              <a:solidFill>
                <a:schemeClr val="accent6">
                  <a:lumMod val="50000"/>
                </a:schemeClr>
              </a:solidFill>
              <a:latin typeface="Avenir Book" panose="02000503020000020003" pitchFamily="2" charset="0"/>
            </a:endParaRPr>
          </a:p>
        </p:txBody>
      </p:sp>
      <p:pic>
        <p:nvPicPr>
          <p:cNvPr id="2" name="Picture 1">
            <a:extLst>
              <a:ext uri="{FF2B5EF4-FFF2-40B4-BE49-F238E27FC236}">
                <a16:creationId xmlns:a16="http://schemas.microsoft.com/office/drawing/2014/main" id="{0FFBE52A-278B-C1A4-0EBD-DA6846053287}"/>
              </a:ext>
            </a:extLst>
          </p:cNvPr>
          <p:cNvPicPr>
            <a:picLocks noChangeAspect="1"/>
          </p:cNvPicPr>
          <p:nvPr/>
        </p:nvPicPr>
        <p:blipFill>
          <a:blip r:embed="rId2"/>
          <a:stretch>
            <a:fillRect/>
          </a:stretch>
        </p:blipFill>
        <p:spPr>
          <a:xfrm>
            <a:off x="753139" y="3174178"/>
            <a:ext cx="4148470" cy="3021572"/>
          </a:xfrm>
          <a:prstGeom prst="rect">
            <a:avLst/>
          </a:prstGeom>
        </p:spPr>
      </p:pic>
      <p:pic>
        <p:nvPicPr>
          <p:cNvPr id="4" name="Picture 3">
            <a:extLst>
              <a:ext uri="{FF2B5EF4-FFF2-40B4-BE49-F238E27FC236}">
                <a16:creationId xmlns:a16="http://schemas.microsoft.com/office/drawing/2014/main" id="{A367D9C3-10B4-ED8E-A8E7-B776D8200198}"/>
              </a:ext>
            </a:extLst>
          </p:cNvPr>
          <p:cNvPicPr>
            <a:picLocks noChangeAspect="1"/>
          </p:cNvPicPr>
          <p:nvPr/>
        </p:nvPicPr>
        <p:blipFill>
          <a:blip r:embed="rId3"/>
          <a:stretch>
            <a:fillRect/>
          </a:stretch>
        </p:blipFill>
        <p:spPr>
          <a:xfrm>
            <a:off x="5911701" y="3157450"/>
            <a:ext cx="4125434" cy="3279349"/>
          </a:xfrm>
          <a:prstGeom prst="rect">
            <a:avLst/>
          </a:prstGeom>
        </p:spPr>
      </p:pic>
      <p:sp>
        <p:nvSpPr>
          <p:cNvPr id="5" name="TextBox 4">
            <a:extLst>
              <a:ext uri="{FF2B5EF4-FFF2-40B4-BE49-F238E27FC236}">
                <a16:creationId xmlns:a16="http://schemas.microsoft.com/office/drawing/2014/main" id="{0A63B2CE-D82C-737C-3CF9-B58DDDE0CE23}"/>
              </a:ext>
            </a:extLst>
          </p:cNvPr>
          <p:cNvSpPr txBox="1"/>
          <p:nvPr/>
        </p:nvSpPr>
        <p:spPr>
          <a:xfrm>
            <a:off x="0" y="6611779"/>
            <a:ext cx="6097772" cy="246221"/>
          </a:xfrm>
          <a:prstGeom prst="rect">
            <a:avLst/>
          </a:prstGeom>
          <a:noFill/>
        </p:spPr>
        <p:txBody>
          <a:bodyPr wrap="square">
            <a:spAutoFit/>
          </a:bodyPr>
          <a:lstStyle/>
          <a:p>
            <a:r>
              <a:rPr lang="en-GB" sz="1000" dirty="0">
                <a:solidFill>
                  <a:srgbClr val="002060"/>
                </a:solidFill>
              </a:rPr>
              <a:t>Thanks to </a:t>
            </a:r>
            <a:r>
              <a:rPr lang="en-GB" sz="1000" dirty="0">
                <a:solidFill>
                  <a:srgbClr val="002060"/>
                </a:solidFill>
                <a:hlinkClick r:id="rId4"/>
              </a:rPr>
              <a:t>http://corysimon.github.io/articles/simpsons-paradox/</a:t>
            </a:r>
            <a:r>
              <a:rPr lang="en-GB" sz="1000" dirty="0">
                <a:solidFill>
                  <a:srgbClr val="002060"/>
                </a:solidFill>
              </a:rPr>
              <a:t> for graphs</a:t>
            </a:r>
          </a:p>
        </p:txBody>
      </p:sp>
    </p:spTree>
    <p:extLst>
      <p:ext uri="{BB962C8B-B14F-4D97-AF65-F5344CB8AC3E}">
        <p14:creationId xmlns:p14="http://schemas.microsoft.com/office/powerpoint/2010/main" val="1822764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56092-3E13-0B12-9CCC-E77CB40D301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4DB0401-23AD-5678-2AD4-32C01C816174}"/>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‘Simpson’s Paradox’</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E2F1E4E0-6EEC-8651-A7F1-2222C9E8CF16}"/>
              </a:ext>
            </a:extLst>
          </p:cNvPr>
          <p:cNvSpPr txBox="1"/>
          <p:nvPr/>
        </p:nvSpPr>
        <p:spPr>
          <a:xfrm>
            <a:off x="589816" y="1601285"/>
            <a:ext cx="11291362" cy="1015663"/>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At its core: we have failed to account for ‘confounding factors’ in our data</a:t>
            </a:r>
          </a:p>
        </p:txBody>
      </p:sp>
    </p:spTree>
    <p:extLst>
      <p:ext uri="{BB962C8B-B14F-4D97-AF65-F5344CB8AC3E}">
        <p14:creationId xmlns:p14="http://schemas.microsoft.com/office/powerpoint/2010/main" val="2965425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6C966-A993-56AB-A284-DD1C9E33B9A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7A25B8A-CC1F-64F5-150C-FE467EF9A0DE}"/>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Here’s another example…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8728B5B3-8C40-FEF8-DFFC-1A383B102466}"/>
              </a:ext>
            </a:extLst>
          </p:cNvPr>
          <p:cNvSpPr txBox="1"/>
          <p:nvPr/>
        </p:nvSpPr>
        <p:spPr>
          <a:xfrm>
            <a:off x="589816" y="1601285"/>
            <a:ext cx="11291362" cy="55399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Remember our penguin data?</a:t>
            </a:r>
          </a:p>
        </p:txBody>
      </p:sp>
    </p:spTree>
    <p:extLst>
      <p:ext uri="{BB962C8B-B14F-4D97-AF65-F5344CB8AC3E}">
        <p14:creationId xmlns:p14="http://schemas.microsoft.com/office/powerpoint/2010/main" val="322628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E7541-3643-BED2-D1EA-2EBDF978F4E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B603B13-B8B0-D501-ECBF-0DEC7C9023B4}"/>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AA0BE98E-285E-37DC-54E9-7F52F0E590E6}"/>
              </a:ext>
            </a:extLst>
          </p:cNvPr>
          <p:cNvSpPr txBox="1"/>
          <p:nvPr/>
        </p:nvSpPr>
        <p:spPr>
          <a:xfrm>
            <a:off x="589816" y="1601285"/>
            <a:ext cx="11291362" cy="3785652"/>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 browsed a book from a divorce lawyer in the train station the other day…</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algn="ctr"/>
            <a:r>
              <a:rPr lang="en-US" sz="3000" dirty="0">
                <a:solidFill>
                  <a:schemeClr val="accent6">
                    <a:lumMod val="50000"/>
                  </a:schemeClr>
                </a:solidFill>
                <a:latin typeface="Avenir Book" panose="02000503020000020003" pitchFamily="2" charset="0"/>
              </a:rPr>
              <a:t>“Couples counselling doesn’t work. Every couple I’ve seen in my office that decides to try counselling ends up back here a few months later”</a:t>
            </a:r>
          </a:p>
        </p:txBody>
      </p:sp>
    </p:spTree>
    <p:extLst>
      <p:ext uri="{BB962C8B-B14F-4D97-AF65-F5344CB8AC3E}">
        <p14:creationId xmlns:p14="http://schemas.microsoft.com/office/powerpoint/2010/main" val="2298194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C4935-5D1C-A70F-6D76-B939AAFC077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B822CB9-9AC8-E56A-D95D-FA27C5A5D704}"/>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CBAEE342-F1FA-3A29-2F0C-929F49C29437}"/>
              </a:ext>
            </a:extLst>
          </p:cNvPr>
          <p:cNvSpPr txBox="1"/>
          <p:nvPr/>
        </p:nvSpPr>
        <p:spPr>
          <a:xfrm>
            <a:off x="409063" y="1452429"/>
            <a:ext cx="8458491" cy="147732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“How likely are arguing couples to get divorced, based on whether or not they have counselling?</a:t>
            </a:r>
          </a:p>
        </p:txBody>
      </p:sp>
      <p:grpSp>
        <p:nvGrpSpPr>
          <p:cNvPr id="23" name="Group 22">
            <a:extLst>
              <a:ext uri="{FF2B5EF4-FFF2-40B4-BE49-F238E27FC236}">
                <a16:creationId xmlns:a16="http://schemas.microsoft.com/office/drawing/2014/main" id="{CF4CA5BA-91A5-F8C8-1057-B5EFBB350C8A}"/>
              </a:ext>
            </a:extLst>
          </p:cNvPr>
          <p:cNvGrpSpPr/>
          <p:nvPr/>
        </p:nvGrpSpPr>
        <p:grpSpPr>
          <a:xfrm>
            <a:off x="3122360" y="2840644"/>
            <a:ext cx="5436851" cy="4017356"/>
            <a:chOff x="2105366" y="2028497"/>
            <a:chExt cx="6771060" cy="5003219"/>
          </a:xfrm>
        </p:grpSpPr>
        <p:cxnSp>
          <p:nvCxnSpPr>
            <p:cNvPr id="4" name="Straight Arrow Connector 3">
              <a:extLst>
                <a:ext uri="{FF2B5EF4-FFF2-40B4-BE49-F238E27FC236}">
                  <a16:creationId xmlns:a16="http://schemas.microsoft.com/office/drawing/2014/main" id="{BA22AC5F-2340-82DA-A87F-9C6B7E7F147D}"/>
                </a:ext>
              </a:extLst>
            </p:cNvPr>
            <p:cNvCxnSpPr>
              <a:cxnSpLocks/>
            </p:cNvCxnSpPr>
            <p:nvPr/>
          </p:nvCxnSpPr>
          <p:spPr>
            <a:xfrm flipV="1">
              <a:off x="3586380" y="2028497"/>
              <a:ext cx="0" cy="4062209"/>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41EC6613-2B9C-DC8D-A1B9-22457168339C}"/>
                </a:ext>
              </a:extLst>
            </p:cNvPr>
            <p:cNvCxnSpPr>
              <a:cxnSpLocks/>
            </p:cNvCxnSpPr>
            <p:nvPr/>
          </p:nvCxnSpPr>
          <p:spPr>
            <a:xfrm>
              <a:off x="3586380" y="6090706"/>
              <a:ext cx="461169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11524A5C-5DCE-EAE7-2540-1BB6871B6B97}"/>
                </a:ext>
              </a:extLst>
            </p:cNvPr>
            <p:cNvSpPr txBox="1"/>
            <p:nvPr/>
          </p:nvSpPr>
          <p:spPr>
            <a:xfrm>
              <a:off x="3690363" y="6314945"/>
              <a:ext cx="2678540" cy="400110"/>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Did Counselling</a:t>
              </a:r>
            </a:p>
          </p:txBody>
        </p:sp>
        <p:sp>
          <p:nvSpPr>
            <p:cNvPr id="7" name="TextBox 6">
              <a:extLst>
                <a:ext uri="{FF2B5EF4-FFF2-40B4-BE49-F238E27FC236}">
                  <a16:creationId xmlns:a16="http://schemas.microsoft.com/office/drawing/2014/main" id="{05DA8050-F8A3-C1FE-ED51-498DDAD26425}"/>
                </a:ext>
              </a:extLst>
            </p:cNvPr>
            <p:cNvSpPr txBox="1"/>
            <p:nvPr/>
          </p:nvSpPr>
          <p:spPr>
            <a:xfrm rot="16200000">
              <a:off x="904235" y="3622527"/>
              <a:ext cx="3667170" cy="1264908"/>
            </a:xfrm>
            <a:prstGeom prst="rect">
              <a:avLst/>
            </a:prstGeom>
            <a:noFill/>
          </p:spPr>
          <p:txBody>
            <a:bodyPr wrap="square">
              <a:spAutoFit/>
            </a:bodyPr>
            <a:lstStyle/>
            <a:p>
              <a:pPr algn="ctr"/>
              <a:r>
                <a:rPr lang="en-US" sz="3000" b="1" dirty="0">
                  <a:solidFill>
                    <a:schemeClr val="accent6">
                      <a:lumMod val="50000"/>
                    </a:schemeClr>
                  </a:solidFill>
                  <a:latin typeface="Avenir Black" panose="02000503020000020003" pitchFamily="2" charset="0"/>
                </a:rPr>
                <a:t>Chance of Divorce</a:t>
              </a:r>
            </a:p>
          </p:txBody>
        </p:sp>
        <p:sp>
          <p:nvSpPr>
            <p:cNvPr id="8" name="Oval 7">
              <a:extLst>
                <a:ext uri="{FF2B5EF4-FFF2-40B4-BE49-F238E27FC236}">
                  <a16:creationId xmlns:a16="http://schemas.microsoft.com/office/drawing/2014/main" id="{AE8E3068-86AC-340A-C33F-F2D51025F360}"/>
                </a:ext>
              </a:extLst>
            </p:cNvPr>
            <p:cNvSpPr/>
            <p:nvPr/>
          </p:nvSpPr>
          <p:spPr>
            <a:xfrm>
              <a:off x="3725404" y="276571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D9C618B-4CA3-B2DE-298F-AF9A37AEDC25}"/>
                </a:ext>
              </a:extLst>
            </p:cNvPr>
            <p:cNvSpPr/>
            <p:nvPr/>
          </p:nvSpPr>
          <p:spPr>
            <a:xfrm>
              <a:off x="3961321" y="3128518"/>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7A948D1-DA73-9914-4B52-385659A898EB}"/>
                </a:ext>
              </a:extLst>
            </p:cNvPr>
            <p:cNvSpPr/>
            <p:nvPr/>
          </p:nvSpPr>
          <p:spPr>
            <a:xfrm>
              <a:off x="4112972" y="244075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6D6562C4-E4C6-BC6D-A905-9CA31A2E3A4D}"/>
                </a:ext>
              </a:extLst>
            </p:cNvPr>
            <p:cNvSpPr/>
            <p:nvPr/>
          </p:nvSpPr>
          <p:spPr>
            <a:xfrm>
              <a:off x="7173000" y="291149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B33A610-F2F2-FD94-7474-3D2BDEB4EB3D}"/>
                </a:ext>
              </a:extLst>
            </p:cNvPr>
            <p:cNvSpPr/>
            <p:nvPr/>
          </p:nvSpPr>
          <p:spPr>
            <a:xfrm>
              <a:off x="4323028" y="2889041"/>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9D556ED-E0AA-58EE-341C-5803E4A3D89E}"/>
                </a:ext>
              </a:extLst>
            </p:cNvPr>
            <p:cNvSpPr/>
            <p:nvPr/>
          </p:nvSpPr>
          <p:spPr>
            <a:xfrm>
              <a:off x="7369148" y="2722528"/>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D1F21FD-4478-4FB9-50F5-F1E9EBE47C19}"/>
                </a:ext>
              </a:extLst>
            </p:cNvPr>
            <p:cNvSpPr/>
            <p:nvPr/>
          </p:nvSpPr>
          <p:spPr>
            <a:xfrm>
              <a:off x="7650343" y="2391273"/>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F79FB14-85D1-54A7-6193-7A5CC20A085C}"/>
                </a:ext>
              </a:extLst>
            </p:cNvPr>
            <p:cNvSpPr/>
            <p:nvPr/>
          </p:nvSpPr>
          <p:spPr>
            <a:xfrm>
              <a:off x="7249311" y="2438635"/>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D158F778-B3FD-3F27-DEB5-7AC85A0563C1}"/>
                </a:ext>
              </a:extLst>
            </p:cNvPr>
            <p:cNvSpPr/>
            <p:nvPr/>
          </p:nvSpPr>
          <p:spPr>
            <a:xfrm>
              <a:off x="7756776" y="2763046"/>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85B64B7-59E6-7D87-232B-D94200A52F74}"/>
                </a:ext>
              </a:extLst>
            </p:cNvPr>
            <p:cNvSpPr/>
            <p:nvPr/>
          </p:nvSpPr>
          <p:spPr>
            <a:xfrm>
              <a:off x="6971799" y="2521071"/>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9BE7713-F5BE-6D25-5196-C75BE145D0BB}"/>
                </a:ext>
              </a:extLst>
            </p:cNvPr>
            <p:cNvSpPr/>
            <p:nvPr/>
          </p:nvSpPr>
          <p:spPr>
            <a:xfrm>
              <a:off x="4626551" y="2949073"/>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C463AB7-65CB-49A8-1944-811201DB1430}"/>
                </a:ext>
              </a:extLst>
            </p:cNvPr>
            <p:cNvSpPr/>
            <p:nvPr/>
          </p:nvSpPr>
          <p:spPr>
            <a:xfrm>
              <a:off x="4570752" y="2587215"/>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13333A6-2BAC-D39F-59CA-9F90BC86EBAC}"/>
                </a:ext>
              </a:extLst>
            </p:cNvPr>
            <p:cNvSpPr txBox="1"/>
            <p:nvPr/>
          </p:nvSpPr>
          <p:spPr>
            <a:xfrm>
              <a:off x="6522167" y="6150114"/>
              <a:ext cx="2354259" cy="881602"/>
            </a:xfrm>
            <a:prstGeom prst="rect">
              <a:avLst/>
            </a:prstGeom>
            <a:noFill/>
          </p:spPr>
          <p:txBody>
            <a:bodyPr wrap="square">
              <a:spAutoFit/>
            </a:bodyPr>
            <a:lstStyle/>
            <a:p>
              <a:pPr algn="ctr"/>
              <a:r>
                <a:rPr lang="en-US" sz="2000" b="1" dirty="0">
                  <a:solidFill>
                    <a:schemeClr val="accent6">
                      <a:lumMod val="50000"/>
                    </a:schemeClr>
                  </a:solidFill>
                  <a:latin typeface="Avenir Black" panose="02000503020000020003" pitchFamily="2" charset="0"/>
                </a:rPr>
                <a:t>Didn’t do counselling</a:t>
              </a:r>
            </a:p>
          </p:txBody>
        </p:sp>
      </p:grpSp>
    </p:spTree>
    <p:extLst>
      <p:ext uri="{BB962C8B-B14F-4D97-AF65-F5344CB8AC3E}">
        <p14:creationId xmlns:p14="http://schemas.microsoft.com/office/powerpoint/2010/main" val="1307365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219E8-1640-4457-DA47-78A76F1DDD5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26E0F81-860C-BFF8-5A73-338BB4CAFF9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974453C0-DCC8-A4C7-350C-F1E62774F9CB}"/>
              </a:ext>
            </a:extLst>
          </p:cNvPr>
          <p:cNvSpPr txBox="1"/>
          <p:nvPr/>
        </p:nvSpPr>
        <p:spPr>
          <a:xfrm>
            <a:off x="9202189" y="3228067"/>
            <a:ext cx="2833867" cy="1015663"/>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What are we missing??</a:t>
            </a:r>
          </a:p>
        </p:txBody>
      </p:sp>
      <p:sp>
        <p:nvSpPr>
          <p:cNvPr id="3" name="TextBox 2">
            <a:extLst>
              <a:ext uri="{FF2B5EF4-FFF2-40B4-BE49-F238E27FC236}">
                <a16:creationId xmlns:a16="http://schemas.microsoft.com/office/drawing/2014/main" id="{6F427969-D5E2-3295-A9EC-A2EA1496C2BA}"/>
              </a:ext>
            </a:extLst>
          </p:cNvPr>
          <p:cNvSpPr txBox="1"/>
          <p:nvPr/>
        </p:nvSpPr>
        <p:spPr>
          <a:xfrm>
            <a:off x="409063" y="1452429"/>
            <a:ext cx="8458491" cy="147732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“How likely are arguing couples to get divorced, based on whether or not they have counselling?</a:t>
            </a:r>
          </a:p>
        </p:txBody>
      </p:sp>
      <p:grpSp>
        <p:nvGrpSpPr>
          <p:cNvPr id="21" name="Group 20">
            <a:extLst>
              <a:ext uri="{FF2B5EF4-FFF2-40B4-BE49-F238E27FC236}">
                <a16:creationId xmlns:a16="http://schemas.microsoft.com/office/drawing/2014/main" id="{65F2FC5E-F5CD-0F47-1A4D-3499AEA611A9}"/>
              </a:ext>
            </a:extLst>
          </p:cNvPr>
          <p:cNvGrpSpPr/>
          <p:nvPr/>
        </p:nvGrpSpPr>
        <p:grpSpPr>
          <a:xfrm>
            <a:off x="3122360" y="2840644"/>
            <a:ext cx="5436851" cy="4017356"/>
            <a:chOff x="2105366" y="2028497"/>
            <a:chExt cx="6771060" cy="5003219"/>
          </a:xfrm>
        </p:grpSpPr>
        <p:cxnSp>
          <p:nvCxnSpPr>
            <p:cNvPr id="23" name="Straight Arrow Connector 22">
              <a:extLst>
                <a:ext uri="{FF2B5EF4-FFF2-40B4-BE49-F238E27FC236}">
                  <a16:creationId xmlns:a16="http://schemas.microsoft.com/office/drawing/2014/main" id="{63C8B5CA-A815-1F29-B0C2-1A448B25BEBE}"/>
                </a:ext>
              </a:extLst>
            </p:cNvPr>
            <p:cNvCxnSpPr>
              <a:cxnSpLocks/>
            </p:cNvCxnSpPr>
            <p:nvPr/>
          </p:nvCxnSpPr>
          <p:spPr>
            <a:xfrm flipV="1">
              <a:off x="3586380" y="2028497"/>
              <a:ext cx="0" cy="4062209"/>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24DE414-2E72-173D-8505-007F8D3C9879}"/>
                </a:ext>
              </a:extLst>
            </p:cNvPr>
            <p:cNvCxnSpPr>
              <a:cxnSpLocks/>
            </p:cNvCxnSpPr>
            <p:nvPr/>
          </p:nvCxnSpPr>
          <p:spPr>
            <a:xfrm>
              <a:off x="3586380" y="6090706"/>
              <a:ext cx="461169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8EBC7BFB-F21D-E450-C622-F3B8FE012178}"/>
                </a:ext>
              </a:extLst>
            </p:cNvPr>
            <p:cNvSpPr txBox="1"/>
            <p:nvPr/>
          </p:nvSpPr>
          <p:spPr>
            <a:xfrm>
              <a:off x="3690363" y="6314945"/>
              <a:ext cx="2678540" cy="400110"/>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Did Counselling</a:t>
              </a:r>
            </a:p>
          </p:txBody>
        </p:sp>
        <p:sp>
          <p:nvSpPr>
            <p:cNvPr id="26" name="TextBox 25">
              <a:extLst>
                <a:ext uri="{FF2B5EF4-FFF2-40B4-BE49-F238E27FC236}">
                  <a16:creationId xmlns:a16="http://schemas.microsoft.com/office/drawing/2014/main" id="{EF26AD5D-0692-1281-7D3A-0881D6D1EDD2}"/>
                </a:ext>
              </a:extLst>
            </p:cNvPr>
            <p:cNvSpPr txBox="1"/>
            <p:nvPr/>
          </p:nvSpPr>
          <p:spPr>
            <a:xfrm rot="16200000">
              <a:off x="904235" y="3622527"/>
              <a:ext cx="3667170" cy="1264908"/>
            </a:xfrm>
            <a:prstGeom prst="rect">
              <a:avLst/>
            </a:prstGeom>
            <a:noFill/>
          </p:spPr>
          <p:txBody>
            <a:bodyPr wrap="square">
              <a:spAutoFit/>
            </a:bodyPr>
            <a:lstStyle/>
            <a:p>
              <a:pPr algn="ctr"/>
              <a:r>
                <a:rPr lang="en-US" sz="3000" b="1" dirty="0">
                  <a:solidFill>
                    <a:schemeClr val="accent6">
                      <a:lumMod val="50000"/>
                    </a:schemeClr>
                  </a:solidFill>
                  <a:latin typeface="Avenir Black" panose="02000503020000020003" pitchFamily="2" charset="0"/>
                </a:rPr>
                <a:t>Chance of Divorce</a:t>
              </a:r>
            </a:p>
          </p:txBody>
        </p:sp>
        <p:sp>
          <p:nvSpPr>
            <p:cNvPr id="27" name="Oval 26">
              <a:extLst>
                <a:ext uri="{FF2B5EF4-FFF2-40B4-BE49-F238E27FC236}">
                  <a16:creationId xmlns:a16="http://schemas.microsoft.com/office/drawing/2014/main" id="{E0D2BF42-4E22-1066-8DD3-87C4F04EEA21}"/>
                </a:ext>
              </a:extLst>
            </p:cNvPr>
            <p:cNvSpPr/>
            <p:nvPr/>
          </p:nvSpPr>
          <p:spPr>
            <a:xfrm>
              <a:off x="3725404" y="276571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145A1EF-C095-A88D-0014-97BB129EA7A5}"/>
                </a:ext>
              </a:extLst>
            </p:cNvPr>
            <p:cNvSpPr/>
            <p:nvPr/>
          </p:nvSpPr>
          <p:spPr>
            <a:xfrm>
              <a:off x="3961321" y="3128518"/>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07C46108-F383-94ED-02E5-9AFDA3FCDBFC}"/>
                </a:ext>
              </a:extLst>
            </p:cNvPr>
            <p:cNvSpPr/>
            <p:nvPr/>
          </p:nvSpPr>
          <p:spPr>
            <a:xfrm>
              <a:off x="4112972" y="244075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D942D56C-0A3B-D92B-6F0E-5A8CA7986AA2}"/>
                </a:ext>
              </a:extLst>
            </p:cNvPr>
            <p:cNvSpPr/>
            <p:nvPr/>
          </p:nvSpPr>
          <p:spPr>
            <a:xfrm>
              <a:off x="7173000" y="291149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5306DEA0-5EFD-4F66-B936-B89E46312F2C}"/>
                </a:ext>
              </a:extLst>
            </p:cNvPr>
            <p:cNvSpPr/>
            <p:nvPr/>
          </p:nvSpPr>
          <p:spPr>
            <a:xfrm>
              <a:off x="4323028" y="2889041"/>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E095B7D-D354-D33C-C942-4CDCEFA10B98}"/>
                </a:ext>
              </a:extLst>
            </p:cNvPr>
            <p:cNvSpPr/>
            <p:nvPr/>
          </p:nvSpPr>
          <p:spPr>
            <a:xfrm>
              <a:off x="7369148" y="2722528"/>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656DB29-B447-EB74-8E1E-E40E2E8E3CA8}"/>
                </a:ext>
              </a:extLst>
            </p:cNvPr>
            <p:cNvSpPr/>
            <p:nvPr/>
          </p:nvSpPr>
          <p:spPr>
            <a:xfrm>
              <a:off x="7650343" y="2391273"/>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02CB66C8-C065-8B94-B29E-C2D2726CD64A}"/>
                </a:ext>
              </a:extLst>
            </p:cNvPr>
            <p:cNvSpPr/>
            <p:nvPr/>
          </p:nvSpPr>
          <p:spPr>
            <a:xfrm>
              <a:off x="7249311" y="2438635"/>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D6879200-5AAF-2E30-7B68-9F99703E8246}"/>
                </a:ext>
              </a:extLst>
            </p:cNvPr>
            <p:cNvSpPr/>
            <p:nvPr/>
          </p:nvSpPr>
          <p:spPr>
            <a:xfrm>
              <a:off x="7756776" y="2763046"/>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23ABF47C-6A95-0430-B19D-CB959A87F945}"/>
                </a:ext>
              </a:extLst>
            </p:cNvPr>
            <p:cNvSpPr/>
            <p:nvPr/>
          </p:nvSpPr>
          <p:spPr>
            <a:xfrm>
              <a:off x="6971799" y="2521071"/>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A51B943E-53E8-282A-4C65-042E7AAF4D6A}"/>
                </a:ext>
              </a:extLst>
            </p:cNvPr>
            <p:cNvSpPr/>
            <p:nvPr/>
          </p:nvSpPr>
          <p:spPr>
            <a:xfrm>
              <a:off x="4626551" y="2949073"/>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F655F9A6-5518-5487-A6F3-C7C9A01CDC4B}"/>
                </a:ext>
              </a:extLst>
            </p:cNvPr>
            <p:cNvSpPr/>
            <p:nvPr/>
          </p:nvSpPr>
          <p:spPr>
            <a:xfrm>
              <a:off x="4570752" y="2587215"/>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BC81445E-C080-A712-7D54-E04790238F66}"/>
                </a:ext>
              </a:extLst>
            </p:cNvPr>
            <p:cNvSpPr txBox="1"/>
            <p:nvPr/>
          </p:nvSpPr>
          <p:spPr>
            <a:xfrm>
              <a:off x="6522167" y="6150114"/>
              <a:ext cx="2354259" cy="881602"/>
            </a:xfrm>
            <a:prstGeom prst="rect">
              <a:avLst/>
            </a:prstGeom>
            <a:noFill/>
          </p:spPr>
          <p:txBody>
            <a:bodyPr wrap="square">
              <a:spAutoFit/>
            </a:bodyPr>
            <a:lstStyle/>
            <a:p>
              <a:pPr algn="ctr"/>
              <a:r>
                <a:rPr lang="en-US" sz="2000" b="1" dirty="0">
                  <a:solidFill>
                    <a:schemeClr val="accent6">
                      <a:lumMod val="50000"/>
                    </a:schemeClr>
                  </a:solidFill>
                  <a:latin typeface="Avenir Black" panose="02000503020000020003" pitchFamily="2" charset="0"/>
                </a:rPr>
                <a:t>Didn’t do counselling</a:t>
              </a:r>
            </a:p>
          </p:txBody>
        </p:sp>
      </p:grpSp>
    </p:spTree>
    <p:extLst>
      <p:ext uri="{BB962C8B-B14F-4D97-AF65-F5344CB8AC3E}">
        <p14:creationId xmlns:p14="http://schemas.microsoft.com/office/powerpoint/2010/main" val="3902236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CD763-1FDD-2493-EA0F-59550627A24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FD6AF74-4C8E-C23B-6FF6-66D666283CB5}"/>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A2FB70B4-C879-0B0C-E482-27F5794E3517}"/>
              </a:ext>
            </a:extLst>
          </p:cNvPr>
          <p:cNvSpPr txBox="1"/>
          <p:nvPr/>
        </p:nvSpPr>
        <p:spPr>
          <a:xfrm>
            <a:off x="9448924" y="4334821"/>
            <a:ext cx="2833867" cy="400110"/>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After</a:t>
            </a:r>
          </a:p>
        </p:txBody>
      </p:sp>
      <p:sp>
        <p:nvSpPr>
          <p:cNvPr id="3" name="TextBox 2">
            <a:extLst>
              <a:ext uri="{FF2B5EF4-FFF2-40B4-BE49-F238E27FC236}">
                <a16:creationId xmlns:a16="http://schemas.microsoft.com/office/drawing/2014/main" id="{7A459F67-9BD0-C23A-FF7F-6238F4EDF4EE}"/>
              </a:ext>
            </a:extLst>
          </p:cNvPr>
          <p:cNvSpPr txBox="1"/>
          <p:nvPr/>
        </p:nvSpPr>
        <p:spPr>
          <a:xfrm>
            <a:off x="409063" y="1452429"/>
            <a:ext cx="8458491" cy="147732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“How likely are arguing couples to get divorced, based on whether or not they have counselling?</a:t>
            </a:r>
          </a:p>
        </p:txBody>
      </p:sp>
      <p:grpSp>
        <p:nvGrpSpPr>
          <p:cNvPr id="21" name="Group 20">
            <a:extLst>
              <a:ext uri="{FF2B5EF4-FFF2-40B4-BE49-F238E27FC236}">
                <a16:creationId xmlns:a16="http://schemas.microsoft.com/office/drawing/2014/main" id="{A7582420-E71F-A702-CA7D-A1869F236807}"/>
              </a:ext>
            </a:extLst>
          </p:cNvPr>
          <p:cNvGrpSpPr/>
          <p:nvPr/>
        </p:nvGrpSpPr>
        <p:grpSpPr>
          <a:xfrm>
            <a:off x="3122360" y="2840644"/>
            <a:ext cx="5436851" cy="4017356"/>
            <a:chOff x="2105366" y="2028497"/>
            <a:chExt cx="6771060" cy="5003219"/>
          </a:xfrm>
        </p:grpSpPr>
        <p:cxnSp>
          <p:nvCxnSpPr>
            <p:cNvPr id="23" name="Straight Arrow Connector 22">
              <a:extLst>
                <a:ext uri="{FF2B5EF4-FFF2-40B4-BE49-F238E27FC236}">
                  <a16:creationId xmlns:a16="http://schemas.microsoft.com/office/drawing/2014/main" id="{BE21FC41-E357-9860-72D7-785306D91211}"/>
                </a:ext>
              </a:extLst>
            </p:cNvPr>
            <p:cNvCxnSpPr>
              <a:cxnSpLocks/>
            </p:cNvCxnSpPr>
            <p:nvPr/>
          </p:nvCxnSpPr>
          <p:spPr>
            <a:xfrm flipV="1">
              <a:off x="3586380" y="2028497"/>
              <a:ext cx="0" cy="4062209"/>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59F486C-E220-B350-8E75-A16D81227D29}"/>
                </a:ext>
              </a:extLst>
            </p:cNvPr>
            <p:cNvCxnSpPr>
              <a:cxnSpLocks/>
            </p:cNvCxnSpPr>
            <p:nvPr/>
          </p:nvCxnSpPr>
          <p:spPr>
            <a:xfrm>
              <a:off x="3586380" y="6090706"/>
              <a:ext cx="461169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FD8A54C9-CFE1-7504-8108-440F17A929DC}"/>
                </a:ext>
              </a:extLst>
            </p:cNvPr>
            <p:cNvSpPr txBox="1"/>
            <p:nvPr/>
          </p:nvSpPr>
          <p:spPr>
            <a:xfrm>
              <a:off x="3690363" y="6314945"/>
              <a:ext cx="2678540" cy="400110"/>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Did Counselling</a:t>
              </a:r>
            </a:p>
          </p:txBody>
        </p:sp>
        <p:sp>
          <p:nvSpPr>
            <p:cNvPr id="26" name="TextBox 25">
              <a:extLst>
                <a:ext uri="{FF2B5EF4-FFF2-40B4-BE49-F238E27FC236}">
                  <a16:creationId xmlns:a16="http://schemas.microsoft.com/office/drawing/2014/main" id="{2C26A039-9002-E63C-7B0A-50F08860C2DD}"/>
                </a:ext>
              </a:extLst>
            </p:cNvPr>
            <p:cNvSpPr txBox="1"/>
            <p:nvPr/>
          </p:nvSpPr>
          <p:spPr>
            <a:xfrm rot="16200000">
              <a:off x="904235" y="3622527"/>
              <a:ext cx="3667170" cy="1264908"/>
            </a:xfrm>
            <a:prstGeom prst="rect">
              <a:avLst/>
            </a:prstGeom>
            <a:noFill/>
          </p:spPr>
          <p:txBody>
            <a:bodyPr wrap="square">
              <a:spAutoFit/>
            </a:bodyPr>
            <a:lstStyle/>
            <a:p>
              <a:pPr algn="ctr"/>
              <a:r>
                <a:rPr lang="en-US" sz="3000" b="1" dirty="0">
                  <a:solidFill>
                    <a:schemeClr val="accent6">
                      <a:lumMod val="50000"/>
                    </a:schemeClr>
                  </a:solidFill>
                  <a:latin typeface="Avenir Black" panose="02000503020000020003" pitchFamily="2" charset="0"/>
                </a:rPr>
                <a:t>Chance of Divorce</a:t>
              </a:r>
            </a:p>
          </p:txBody>
        </p:sp>
        <p:sp>
          <p:nvSpPr>
            <p:cNvPr id="27" name="Oval 26">
              <a:extLst>
                <a:ext uri="{FF2B5EF4-FFF2-40B4-BE49-F238E27FC236}">
                  <a16:creationId xmlns:a16="http://schemas.microsoft.com/office/drawing/2014/main" id="{7C7330BD-A468-F6B2-599E-3B7975FB4B31}"/>
                </a:ext>
              </a:extLst>
            </p:cNvPr>
            <p:cNvSpPr/>
            <p:nvPr/>
          </p:nvSpPr>
          <p:spPr>
            <a:xfrm>
              <a:off x="3725404" y="276571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BDD4ECF-B1AC-C459-B7AC-40145319C54F}"/>
                </a:ext>
              </a:extLst>
            </p:cNvPr>
            <p:cNvSpPr/>
            <p:nvPr/>
          </p:nvSpPr>
          <p:spPr>
            <a:xfrm>
              <a:off x="3961321" y="3128518"/>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8DCA520B-B44D-0FD8-1CF5-4BB1E442D61C}"/>
                </a:ext>
              </a:extLst>
            </p:cNvPr>
            <p:cNvSpPr/>
            <p:nvPr/>
          </p:nvSpPr>
          <p:spPr>
            <a:xfrm>
              <a:off x="4112972" y="244075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93E190E3-56DC-74C0-4472-55EB4B966BBB}"/>
                </a:ext>
              </a:extLst>
            </p:cNvPr>
            <p:cNvSpPr/>
            <p:nvPr/>
          </p:nvSpPr>
          <p:spPr>
            <a:xfrm>
              <a:off x="7173000" y="291149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B2B80857-DABB-5FAC-8CE7-C724F75C93A0}"/>
                </a:ext>
              </a:extLst>
            </p:cNvPr>
            <p:cNvSpPr/>
            <p:nvPr/>
          </p:nvSpPr>
          <p:spPr>
            <a:xfrm>
              <a:off x="4323028" y="2889041"/>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5138074F-C578-BA17-654A-AB6EEC64889F}"/>
                </a:ext>
              </a:extLst>
            </p:cNvPr>
            <p:cNvSpPr/>
            <p:nvPr/>
          </p:nvSpPr>
          <p:spPr>
            <a:xfrm>
              <a:off x="7369148" y="2722528"/>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24026583-36CA-DC0D-C42C-1D784E1C8CA9}"/>
                </a:ext>
              </a:extLst>
            </p:cNvPr>
            <p:cNvSpPr/>
            <p:nvPr/>
          </p:nvSpPr>
          <p:spPr>
            <a:xfrm>
              <a:off x="7650343" y="2391273"/>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BC91DD71-E86C-1715-B233-7AFD364D0C86}"/>
                </a:ext>
              </a:extLst>
            </p:cNvPr>
            <p:cNvSpPr/>
            <p:nvPr/>
          </p:nvSpPr>
          <p:spPr>
            <a:xfrm>
              <a:off x="7249311" y="2438635"/>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3CB83F2-B3FD-85CC-26E9-AB825AED39B3}"/>
                </a:ext>
              </a:extLst>
            </p:cNvPr>
            <p:cNvSpPr/>
            <p:nvPr/>
          </p:nvSpPr>
          <p:spPr>
            <a:xfrm>
              <a:off x="7756776" y="2763046"/>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0A927D85-2BF5-EFBB-B0E9-5964428EB822}"/>
                </a:ext>
              </a:extLst>
            </p:cNvPr>
            <p:cNvSpPr/>
            <p:nvPr/>
          </p:nvSpPr>
          <p:spPr>
            <a:xfrm>
              <a:off x="6971799" y="2521071"/>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6034D385-5874-AB82-9049-635803DAC75C}"/>
                </a:ext>
              </a:extLst>
            </p:cNvPr>
            <p:cNvSpPr/>
            <p:nvPr/>
          </p:nvSpPr>
          <p:spPr>
            <a:xfrm>
              <a:off x="4626551" y="2949073"/>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7D541BF7-23C3-3429-A3AC-070AA04B5446}"/>
                </a:ext>
              </a:extLst>
            </p:cNvPr>
            <p:cNvSpPr/>
            <p:nvPr/>
          </p:nvSpPr>
          <p:spPr>
            <a:xfrm>
              <a:off x="4570752" y="2587215"/>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143DF04B-6D49-AEAE-BC2E-0886C3990B3F}"/>
                </a:ext>
              </a:extLst>
            </p:cNvPr>
            <p:cNvSpPr txBox="1"/>
            <p:nvPr/>
          </p:nvSpPr>
          <p:spPr>
            <a:xfrm>
              <a:off x="6522167" y="6150114"/>
              <a:ext cx="2354259" cy="881602"/>
            </a:xfrm>
            <a:prstGeom prst="rect">
              <a:avLst/>
            </a:prstGeom>
            <a:noFill/>
          </p:spPr>
          <p:txBody>
            <a:bodyPr wrap="square">
              <a:spAutoFit/>
            </a:bodyPr>
            <a:lstStyle/>
            <a:p>
              <a:pPr algn="ctr"/>
              <a:r>
                <a:rPr lang="en-US" sz="2000" b="1" dirty="0">
                  <a:solidFill>
                    <a:schemeClr val="accent6">
                      <a:lumMod val="50000"/>
                    </a:schemeClr>
                  </a:solidFill>
                  <a:latin typeface="Avenir Black" panose="02000503020000020003" pitchFamily="2" charset="0"/>
                </a:rPr>
                <a:t>Didn’t do counselling</a:t>
              </a:r>
            </a:p>
          </p:txBody>
        </p:sp>
      </p:grpSp>
      <p:sp>
        <p:nvSpPr>
          <p:cNvPr id="4" name="Oval 3">
            <a:extLst>
              <a:ext uri="{FF2B5EF4-FFF2-40B4-BE49-F238E27FC236}">
                <a16:creationId xmlns:a16="http://schemas.microsoft.com/office/drawing/2014/main" id="{2CE5C611-44CB-99A6-9D65-62FA8E54913A}"/>
              </a:ext>
            </a:extLst>
          </p:cNvPr>
          <p:cNvSpPr/>
          <p:nvPr/>
        </p:nvSpPr>
        <p:spPr>
          <a:xfrm>
            <a:off x="5040778" y="4094025"/>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92961E12-73DA-0A21-CC6C-0AA0F178754A}"/>
              </a:ext>
            </a:extLst>
          </p:cNvPr>
          <p:cNvSpPr/>
          <p:nvPr/>
        </p:nvSpPr>
        <p:spPr>
          <a:xfrm>
            <a:off x="4561806" y="4565740"/>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319C336-72EE-A6B7-9460-37B6C49F1818}"/>
              </a:ext>
            </a:extLst>
          </p:cNvPr>
          <p:cNvSpPr/>
          <p:nvPr/>
        </p:nvSpPr>
        <p:spPr>
          <a:xfrm>
            <a:off x="5156892" y="5073740"/>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FA4904E-2BB6-92BD-6CEE-EC73BA360EAB}"/>
              </a:ext>
            </a:extLst>
          </p:cNvPr>
          <p:cNvSpPr/>
          <p:nvPr/>
        </p:nvSpPr>
        <p:spPr>
          <a:xfrm>
            <a:off x="4663407" y="5320483"/>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8233E52-035C-4A2B-695C-6959617430C5}"/>
              </a:ext>
            </a:extLst>
          </p:cNvPr>
          <p:cNvSpPr/>
          <p:nvPr/>
        </p:nvSpPr>
        <p:spPr>
          <a:xfrm>
            <a:off x="5178664" y="5661569"/>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6A414A1-54D9-8DCF-1C4D-740001AC576D}"/>
              </a:ext>
            </a:extLst>
          </p:cNvPr>
          <p:cNvSpPr/>
          <p:nvPr/>
        </p:nvSpPr>
        <p:spPr>
          <a:xfrm>
            <a:off x="4765007" y="5603511"/>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17DAF34-7B57-B58C-5EFA-890B4A74D22F}"/>
              </a:ext>
            </a:extLst>
          </p:cNvPr>
          <p:cNvSpPr/>
          <p:nvPr/>
        </p:nvSpPr>
        <p:spPr>
          <a:xfrm>
            <a:off x="4931921" y="4964882"/>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3208BE7-C5A9-ECE5-7D3C-6EA3A8DAEFC0}"/>
              </a:ext>
            </a:extLst>
          </p:cNvPr>
          <p:cNvSpPr/>
          <p:nvPr/>
        </p:nvSpPr>
        <p:spPr>
          <a:xfrm>
            <a:off x="4975464" y="5218882"/>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AD465CB-402A-BA8C-CF92-C8E6E5FA1715}"/>
              </a:ext>
            </a:extLst>
          </p:cNvPr>
          <p:cNvSpPr/>
          <p:nvPr/>
        </p:nvSpPr>
        <p:spPr>
          <a:xfrm>
            <a:off x="4968206" y="4282711"/>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71A76ED-4265-D299-71FD-0F37A4327BCD}"/>
              </a:ext>
            </a:extLst>
          </p:cNvPr>
          <p:cNvSpPr/>
          <p:nvPr/>
        </p:nvSpPr>
        <p:spPr>
          <a:xfrm>
            <a:off x="4489234" y="4754426"/>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6CFEFC7-7B0F-0C7A-C060-ADC3BB7BD1CA}"/>
              </a:ext>
            </a:extLst>
          </p:cNvPr>
          <p:cNvSpPr/>
          <p:nvPr/>
        </p:nvSpPr>
        <p:spPr>
          <a:xfrm>
            <a:off x="5084320" y="5262426"/>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AF616D1-FECE-52E0-6D76-947051FB92B2}"/>
              </a:ext>
            </a:extLst>
          </p:cNvPr>
          <p:cNvSpPr/>
          <p:nvPr/>
        </p:nvSpPr>
        <p:spPr>
          <a:xfrm>
            <a:off x="4590835" y="5509169"/>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C09FDD1-24C9-B146-5687-3594134F65EC}"/>
              </a:ext>
            </a:extLst>
          </p:cNvPr>
          <p:cNvSpPr/>
          <p:nvPr/>
        </p:nvSpPr>
        <p:spPr>
          <a:xfrm>
            <a:off x="5106092" y="5850255"/>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B18B57-827C-D1F9-9BAB-E07E0A11AE8E}"/>
              </a:ext>
            </a:extLst>
          </p:cNvPr>
          <p:cNvSpPr/>
          <p:nvPr/>
        </p:nvSpPr>
        <p:spPr>
          <a:xfrm>
            <a:off x="4692435" y="5792197"/>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96D5CC5-91BF-D719-2A22-FB11F07149BA}"/>
              </a:ext>
            </a:extLst>
          </p:cNvPr>
          <p:cNvSpPr/>
          <p:nvPr/>
        </p:nvSpPr>
        <p:spPr>
          <a:xfrm>
            <a:off x="4859349" y="5153568"/>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8042E4D-26B7-EF02-6F94-21BF71FB6F11}"/>
              </a:ext>
            </a:extLst>
          </p:cNvPr>
          <p:cNvSpPr/>
          <p:nvPr/>
        </p:nvSpPr>
        <p:spPr>
          <a:xfrm>
            <a:off x="4902892" y="5407568"/>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9E61E57-F91E-7931-594A-C3E3F4D5B997}"/>
              </a:ext>
            </a:extLst>
          </p:cNvPr>
          <p:cNvSpPr/>
          <p:nvPr/>
        </p:nvSpPr>
        <p:spPr>
          <a:xfrm>
            <a:off x="5127863" y="4159340"/>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C0C6862A-37C4-5E43-0F8E-63D37CD9392D}"/>
              </a:ext>
            </a:extLst>
          </p:cNvPr>
          <p:cNvSpPr/>
          <p:nvPr/>
        </p:nvSpPr>
        <p:spPr>
          <a:xfrm>
            <a:off x="4648891" y="4631055"/>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29EC50EE-D05B-4D9C-FB1A-F314DF9F54B7}"/>
              </a:ext>
            </a:extLst>
          </p:cNvPr>
          <p:cNvSpPr/>
          <p:nvPr/>
        </p:nvSpPr>
        <p:spPr>
          <a:xfrm>
            <a:off x="5243977" y="5139055"/>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96203A81-983D-E1E8-0D10-3B87FD88141D}"/>
              </a:ext>
            </a:extLst>
          </p:cNvPr>
          <p:cNvSpPr/>
          <p:nvPr/>
        </p:nvSpPr>
        <p:spPr>
          <a:xfrm>
            <a:off x="4750492" y="5385798"/>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12FF2831-D7C5-33DC-2A5F-D5A60EEB4638}"/>
              </a:ext>
            </a:extLst>
          </p:cNvPr>
          <p:cNvSpPr/>
          <p:nvPr/>
        </p:nvSpPr>
        <p:spPr>
          <a:xfrm>
            <a:off x="5265749" y="5726884"/>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9D41A2F-E924-9358-379F-ADF1166C3CF7}"/>
              </a:ext>
            </a:extLst>
          </p:cNvPr>
          <p:cNvSpPr/>
          <p:nvPr/>
        </p:nvSpPr>
        <p:spPr>
          <a:xfrm>
            <a:off x="4852092" y="5668826"/>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FD06F80C-C526-BECD-7B95-3C4067AADE1B}"/>
              </a:ext>
            </a:extLst>
          </p:cNvPr>
          <p:cNvSpPr/>
          <p:nvPr/>
        </p:nvSpPr>
        <p:spPr>
          <a:xfrm>
            <a:off x="5019006" y="5030197"/>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ED93F31-657A-7201-E7F9-FCC64BBC7FC2}"/>
              </a:ext>
            </a:extLst>
          </p:cNvPr>
          <p:cNvSpPr/>
          <p:nvPr/>
        </p:nvSpPr>
        <p:spPr>
          <a:xfrm>
            <a:off x="5062549" y="5284197"/>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CF5B1122-9003-A511-604D-B0E2E39CEBDA}"/>
              </a:ext>
            </a:extLst>
          </p:cNvPr>
          <p:cNvSpPr/>
          <p:nvPr/>
        </p:nvSpPr>
        <p:spPr>
          <a:xfrm>
            <a:off x="5026263" y="3716654"/>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CBB901CC-223B-D93C-C0AC-0184B63DC9A4}"/>
              </a:ext>
            </a:extLst>
          </p:cNvPr>
          <p:cNvSpPr/>
          <p:nvPr/>
        </p:nvSpPr>
        <p:spPr>
          <a:xfrm>
            <a:off x="4547291" y="4188369"/>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C518905E-93A4-9B18-19A6-CCF44D3B57FF}"/>
              </a:ext>
            </a:extLst>
          </p:cNvPr>
          <p:cNvSpPr/>
          <p:nvPr/>
        </p:nvSpPr>
        <p:spPr>
          <a:xfrm>
            <a:off x="5142377" y="4696369"/>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16B4A7FB-ED30-17C1-428C-DED45E867066}"/>
              </a:ext>
            </a:extLst>
          </p:cNvPr>
          <p:cNvSpPr/>
          <p:nvPr/>
        </p:nvSpPr>
        <p:spPr>
          <a:xfrm>
            <a:off x="4648892" y="4943112"/>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04DC6103-1D1A-177A-E8E2-6C63C5FB945C}"/>
              </a:ext>
            </a:extLst>
          </p:cNvPr>
          <p:cNvSpPr/>
          <p:nvPr/>
        </p:nvSpPr>
        <p:spPr>
          <a:xfrm>
            <a:off x="5164149" y="5284198"/>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8982A8BE-0D73-B08B-633F-812D8324D5E7}"/>
              </a:ext>
            </a:extLst>
          </p:cNvPr>
          <p:cNvSpPr/>
          <p:nvPr/>
        </p:nvSpPr>
        <p:spPr>
          <a:xfrm>
            <a:off x="4750492" y="5226140"/>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DF34C594-34CE-5548-BEF9-7E040969F82D}"/>
              </a:ext>
            </a:extLst>
          </p:cNvPr>
          <p:cNvSpPr/>
          <p:nvPr/>
        </p:nvSpPr>
        <p:spPr>
          <a:xfrm>
            <a:off x="4917406" y="4587511"/>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4DEE339E-9C86-0B35-1439-07BB4BFCD3B9}"/>
              </a:ext>
            </a:extLst>
          </p:cNvPr>
          <p:cNvSpPr/>
          <p:nvPr/>
        </p:nvSpPr>
        <p:spPr>
          <a:xfrm>
            <a:off x="4960949" y="4841511"/>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833037AB-A329-28A5-AE7A-D9EE23E423CC}"/>
              </a:ext>
            </a:extLst>
          </p:cNvPr>
          <p:cNvSpPr/>
          <p:nvPr/>
        </p:nvSpPr>
        <p:spPr>
          <a:xfrm>
            <a:off x="5033520" y="5538197"/>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8486F022-27AF-C6B4-AF12-6032F719A036}"/>
              </a:ext>
            </a:extLst>
          </p:cNvPr>
          <p:cNvSpPr/>
          <p:nvPr/>
        </p:nvSpPr>
        <p:spPr>
          <a:xfrm>
            <a:off x="4416662" y="4297226"/>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20A8FA45-2D76-D09E-E72D-0AC1C57C2402}"/>
              </a:ext>
            </a:extLst>
          </p:cNvPr>
          <p:cNvSpPr/>
          <p:nvPr/>
        </p:nvSpPr>
        <p:spPr>
          <a:xfrm>
            <a:off x="5011748" y="4805226"/>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26184E6F-9953-A1A7-C0C2-00F939A039D3}"/>
              </a:ext>
            </a:extLst>
          </p:cNvPr>
          <p:cNvSpPr/>
          <p:nvPr/>
        </p:nvSpPr>
        <p:spPr>
          <a:xfrm>
            <a:off x="4518263" y="5051969"/>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ED4ADEC5-A091-ED3F-109E-EB48F6F08D76}"/>
              </a:ext>
            </a:extLst>
          </p:cNvPr>
          <p:cNvSpPr/>
          <p:nvPr/>
        </p:nvSpPr>
        <p:spPr>
          <a:xfrm>
            <a:off x="5033520" y="5393055"/>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F60FDADA-3E30-A7D5-5EC4-CC3B0F21B9E1}"/>
              </a:ext>
            </a:extLst>
          </p:cNvPr>
          <p:cNvSpPr/>
          <p:nvPr/>
        </p:nvSpPr>
        <p:spPr>
          <a:xfrm>
            <a:off x="4619863" y="5334997"/>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07504072-BDD3-C42D-923A-1A964AAE22BC}"/>
              </a:ext>
            </a:extLst>
          </p:cNvPr>
          <p:cNvSpPr/>
          <p:nvPr/>
        </p:nvSpPr>
        <p:spPr>
          <a:xfrm>
            <a:off x="4786777" y="4696368"/>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4677525-4464-6137-C5A5-367EAD47C2FF}"/>
              </a:ext>
            </a:extLst>
          </p:cNvPr>
          <p:cNvSpPr/>
          <p:nvPr/>
        </p:nvSpPr>
        <p:spPr>
          <a:xfrm>
            <a:off x="4830320" y="4950368"/>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B0FA8EBB-E2FB-61C1-236B-B870495553BE}"/>
              </a:ext>
            </a:extLst>
          </p:cNvPr>
          <p:cNvSpPr/>
          <p:nvPr/>
        </p:nvSpPr>
        <p:spPr>
          <a:xfrm>
            <a:off x="7617064" y="3973739"/>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4BDCF56B-D7A5-656F-1478-54B7EDDFCEC7}"/>
              </a:ext>
            </a:extLst>
          </p:cNvPr>
          <p:cNvSpPr/>
          <p:nvPr/>
        </p:nvSpPr>
        <p:spPr>
          <a:xfrm>
            <a:off x="7203407" y="3915681"/>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7A663E94-E892-2E6D-F873-FE78362F64CE}"/>
              </a:ext>
            </a:extLst>
          </p:cNvPr>
          <p:cNvSpPr/>
          <p:nvPr/>
        </p:nvSpPr>
        <p:spPr>
          <a:xfrm>
            <a:off x="7029235" y="3821339"/>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7C894B6B-77B5-7AC9-A876-964EB793F3D6}"/>
              </a:ext>
            </a:extLst>
          </p:cNvPr>
          <p:cNvSpPr/>
          <p:nvPr/>
        </p:nvSpPr>
        <p:spPr>
          <a:xfrm>
            <a:off x="7544492" y="4162425"/>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238AAFCA-AE98-95C3-808D-9A7A3A0AFEE5}"/>
              </a:ext>
            </a:extLst>
          </p:cNvPr>
          <p:cNvSpPr/>
          <p:nvPr/>
        </p:nvSpPr>
        <p:spPr>
          <a:xfrm>
            <a:off x="7130835" y="4104367"/>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550D0F17-E491-F6CD-3D89-C2C54D0D1B15}"/>
              </a:ext>
            </a:extLst>
          </p:cNvPr>
          <p:cNvSpPr/>
          <p:nvPr/>
        </p:nvSpPr>
        <p:spPr>
          <a:xfrm>
            <a:off x="7471920" y="3850367"/>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3632B06C-7935-66E0-7112-ED20B33C0D48}"/>
              </a:ext>
            </a:extLst>
          </p:cNvPr>
          <p:cNvSpPr/>
          <p:nvPr/>
        </p:nvSpPr>
        <p:spPr>
          <a:xfrm>
            <a:off x="7325417" y="4520565"/>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2D5348CC-0E23-3141-C953-6ECD4F8C823B}"/>
              </a:ext>
            </a:extLst>
          </p:cNvPr>
          <p:cNvSpPr/>
          <p:nvPr/>
        </p:nvSpPr>
        <p:spPr>
          <a:xfrm>
            <a:off x="7632122" y="4930140"/>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4C7AA89A-A149-BF24-A3BD-DDF54DE98C56}"/>
              </a:ext>
            </a:extLst>
          </p:cNvPr>
          <p:cNvSpPr/>
          <p:nvPr/>
        </p:nvSpPr>
        <p:spPr>
          <a:xfrm>
            <a:off x="7184447" y="5654040"/>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65AB9AFE-3D4A-EE98-90C0-4A479C2400F2}"/>
              </a:ext>
            </a:extLst>
          </p:cNvPr>
          <p:cNvSpPr txBox="1"/>
          <p:nvPr/>
        </p:nvSpPr>
        <p:spPr>
          <a:xfrm>
            <a:off x="9081687" y="2517608"/>
            <a:ext cx="2833867" cy="1323439"/>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Tried counselling before/after deciding to speak to a divorce lawyer</a:t>
            </a:r>
          </a:p>
        </p:txBody>
      </p:sp>
      <p:sp>
        <p:nvSpPr>
          <p:cNvPr id="79" name="Oval 78">
            <a:extLst>
              <a:ext uri="{FF2B5EF4-FFF2-40B4-BE49-F238E27FC236}">
                <a16:creationId xmlns:a16="http://schemas.microsoft.com/office/drawing/2014/main" id="{711D365D-0439-74BA-F5BB-9D1AC5631428}"/>
              </a:ext>
            </a:extLst>
          </p:cNvPr>
          <p:cNvSpPr/>
          <p:nvPr/>
        </p:nvSpPr>
        <p:spPr>
          <a:xfrm>
            <a:off x="9202483" y="4445350"/>
            <a:ext cx="145441" cy="144778"/>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B5C2F0B4-1098-9622-B22F-4BE8DAA763D2}"/>
              </a:ext>
            </a:extLst>
          </p:cNvPr>
          <p:cNvSpPr/>
          <p:nvPr/>
        </p:nvSpPr>
        <p:spPr>
          <a:xfrm>
            <a:off x="9202285" y="5076055"/>
            <a:ext cx="145441" cy="14477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F1DAFBC9-F931-241B-8A4B-464C3D0755A0}"/>
              </a:ext>
            </a:extLst>
          </p:cNvPr>
          <p:cNvSpPr txBox="1"/>
          <p:nvPr/>
        </p:nvSpPr>
        <p:spPr>
          <a:xfrm>
            <a:off x="9432711" y="4954148"/>
            <a:ext cx="2833867" cy="400110"/>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Before</a:t>
            </a:r>
          </a:p>
        </p:txBody>
      </p:sp>
    </p:spTree>
    <p:extLst>
      <p:ext uri="{BB962C8B-B14F-4D97-AF65-F5344CB8AC3E}">
        <p14:creationId xmlns:p14="http://schemas.microsoft.com/office/powerpoint/2010/main" val="375014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3BB54-C92C-EAB7-9044-18A9044E151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FAE6A91-8894-9235-018F-4B633C9CD1F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Models can lie…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easily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60363A33-EDB3-5625-7833-579673774A7F}"/>
              </a:ext>
            </a:extLst>
          </p:cNvPr>
          <p:cNvSpPr txBox="1"/>
          <p:nvPr/>
        </p:nvSpPr>
        <p:spPr>
          <a:xfrm>
            <a:off x="409063" y="1452429"/>
            <a:ext cx="8458491" cy="147732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“How likely are arguing couples to get divorced, based on whether or not they have counselling?</a:t>
            </a:r>
          </a:p>
        </p:txBody>
      </p:sp>
      <p:grpSp>
        <p:nvGrpSpPr>
          <p:cNvPr id="21" name="Group 20">
            <a:extLst>
              <a:ext uri="{FF2B5EF4-FFF2-40B4-BE49-F238E27FC236}">
                <a16:creationId xmlns:a16="http://schemas.microsoft.com/office/drawing/2014/main" id="{0D23802C-0DA0-F2E9-52BC-ED4B0A73D855}"/>
              </a:ext>
            </a:extLst>
          </p:cNvPr>
          <p:cNvGrpSpPr/>
          <p:nvPr/>
        </p:nvGrpSpPr>
        <p:grpSpPr>
          <a:xfrm>
            <a:off x="3122360" y="2840644"/>
            <a:ext cx="5436851" cy="4017356"/>
            <a:chOff x="2105366" y="2028497"/>
            <a:chExt cx="6771060" cy="5003219"/>
          </a:xfrm>
        </p:grpSpPr>
        <p:cxnSp>
          <p:nvCxnSpPr>
            <p:cNvPr id="23" name="Straight Arrow Connector 22">
              <a:extLst>
                <a:ext uri="{FF2B5EF4-FFF2-40B4-BE49-F238E27FC236}">
                  <a16:creationId xmlns:a16="http://schemas.microsoft.com/office/drawing/2014/main" id="{D98B0417-F43A-6AFD-C084-A20755D9DCDF}"/>
                </a:ext>
              </a:extLst>
            </p:cNvPr>
            <p:cNvCxnSpPr>
              <a:cxnSpLocks/>
            </p:cNvCxnSpPr>
            <p:nvPr/>
          </p:nvCxnSpPr>
          <p:spPr>
            <a:xfrm flipV="1">
              <a:off x="3586380" y="2028497"/>
              <a:ext cx="0" cy="4062209"/>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E42456A7-08F3-E38A-CABD-3DFFAB1A2988}"/>
                </a:ext>
              </a:extLst>
            </p:cNvPr>
            <p:cNvCxnSpPr>
              <a:cxnSpLocks/>
            </p:cNvCxnSpPr>
            <p:nvPr/>
          </p:nvCxnSpPr>
          <p:spPr>
            <a:xfrm>
              <a:off x="3586380" y="6090706"/>
              <a:ext cx="461169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4265B417-8C86-1F92-B478-6305D7BB6387}"/>
                </a:ext>
              </a:extLst>
            </p:cNvPr>
            <p:cNvSpPr txBox="1"/>
            <p:nvPr/>
          </p:nvSpPr>
          <p:spPr>
            <a:xfrm>
              <a:off x="3690363" y="6314945"/>
              <a:ext cx="2678540" cy="400110"/>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Did Counselling</a:t>
              </a:r>
            </a:p>
          </p:txBody>
        </p:sp>
        <p:sp>
          <p:nvSpPr>
            <p:cNvPr id="26" name="TextBox 25">
              <a:extLst>
                <a:ext uri="{FF2B5EF4-FFF2-40B4-BE49-F238E27FC236}">
                  <a16:creationId xmlns:a16="http://schemas.microsoft.com/office/drawing/2014/main" id="{B88E8C90-8A81-540B-EA3A-14DA3D38AE07}"/>
                </a:ext>
              </a:extLst>
            </p:cNvPr>
            <p:cNvSpPr txBox="1"/>
            <p:nvPr/>
          </p:nvSpPr>
          <p:spPr>
            <a:xfrm rot="16200000">
              <a:off x="904235" y="3622527"/>
              <a:ext cx="3667170" cy="1264908"/>
            </a:xfrm>
            <a:prstGeom prst="rect">
              <a:avLst/>
            </a:prstGeom>
            <a:noFill/>
          </p:spPr>
          <p:txBody>
            <a:bodyPr wrap="square">
              <a:spAutoFit/>
            </a:bodyPr>
            <a:lstStyle/>
            <a:p>
              <a:pPr algn="ctr"/>
              <a:r>
                <a:rPr lang="en-US" sz="3000" b="1" dirty="0">
                  <a:solidFill>
                    <a:schemeClr val="accent6">
                      <a:lumMod val="50000"/>
                    </a:schemeClr>
                  </a:solidFill>
                  <a:latin typeface="Avenir Black" panose="02000503020000020003" pitchFamily="2" charset="0"/>
                </a:rPr>
                <a:t>Chance of Divorce</a:t>
              </a:r>
            </a:p>
          </p:txBody>
        </p:sp>
        <p:sp>
          <p:nvSpPr>
            <p:cNvPr id="27" name="Oval 26">
              <a:extLst>
                <a:ext uri="{FF2B5EF4-FFF2-40B4-BE49-F238E27FC236}">
                  <a16:creationId xmlns:a16="http://schemas.microsoft.com/office/drawing/2014/main" id="{57A9B700-6F6A-098D-0E35-C1BFEC40C194}"/>
                </a:ext>
              </a:extLst>
            </p:cNvPr>
            <p:cNvSpPr/>
            <p:nvPr/>
          </p:nvSpPr>
          <p:spPr>
            <a:xfrm>
              <a:off x="3725404" y="276571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7254A51C-4CDE-254C-AD1F-C948FFDAE11E}"/>
                </a:ext>
              </a:extLst>
            </p:cNvPr>
            <p:cNvSpPr/>
            <p:nvPr/>
          </p:nvSpPr>
          <p:spPr>
            <a:xfrm>
              <a:off x="3961321" y="3128518"/>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244CA5B-C65D-9D34-7DF4-396562618245}"/>
                </a:ext>
              </a:extLst>
            </p:cNvPr>
            <p:cNvSpPr/>
            <p:nvPr/>
          </p:nvSpPr>
          <p:spPr>
            <a:xfrm>
              <a:off x="4112972" y="244075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66F36B15-0EF3-9C79-87E6-50791F5F7683}"/>
                </a:ext>
              </a:extLst>
            </p:cNvPr>
            <p:cNvSpPr/>
            <p:nvPr/>
          </p:nvSpPr>
          <p:spPr>
            <a:xfrm>
              <a:off x="7173000" y="2911490"/>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D8772825-4B55-7981-67AE-8F9341A2C8A2}"/>
                </a:ext>
              </a:extLst>
            </p:cNvPr>
            <p:cNvSpPr/>
            <p:nvPr/>
          </p:nvSpPr>
          <p:spPr>
            <a:xfrm>
              <a:off x="4323028" y="2889041"/>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13BBF97-2F35-E6E0-D6BC-D3CDD4041917}"/>
                </a:ext>
              </a:extLst>
            </p:cNvPr>
            <p:cNvSpPr/>
            <p:nvPr/>
          </p:nvSpPr>
          <p:spPr>
            <a:xfrm>
              <a:off x="7369148" y="2722528"/>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2954400E-39A5-4F67-FF44-DEEE2AAE7DE1}"/>
                </a:ext>
              </a:extLst>
            </p:cNvPr>
            <p:cNvSpPr/>
            <p:nvPr/>
          </p:nvSpPr>
          <p:spPr>
            <a:xfrm>
              <a:off x="7650343" y="2391273"/>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DC82F88F-B2B7-A84D-2902-0EC7FE24FC9D}"/>
                </a:ext>
              </a:extLst>
            </p:cNvPr>
            <p:cNvSpPr/>
            <p:nvPr/>
          </p:nvSpPr>
          <p:spPr>
            <a:xfrm>
              <a:off x="7249311" y="2438635"/>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B0E22A9A-C1C7-C4E6-8B63-9C749F65D3AB}"/>
                </a:ext>
              </a:extLst>
            </p:cNvPr>
            <p:cNvSpPr/>
            <p:nvPr/>
          </p:nvSpPr>
          <p:spPr>
            <a:xfrm>
              <a:off x="7756776" y="2763046"/>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1B40098-A774-C621-4683-9D46D1F48CF2}"/>
                </a:ext>
              </a:extLst>
            </p:cNvPr>
            <p:cNvSpPr/>
            <p:nvPr/>
          </p:nvSpPr>
          <p:spPr>
            <a:xfrm>
              <a:off x="6971799" y="2521071"/>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A93FFBEC-8A22-CBE5-95B8-6CF0E4AE8763}"/>
                </a:ext>
              </a:extLst>
            </p:cNvPr>
            <p:cNvSpPr/>
            <p:nvPr/>
          </p:nvSpPr>
          <p:spPr>
            <a:xfrm>
              <a:off x="4626551" y="2949073"/>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557709C7-D8DD-42ED-3718-B1BA491427F4}"/>
                </a:ext>
              </a:extLst>
            </p:cNvPr>
            <p:cNvSpPr/>
            <p:nvPr/>
          </p:nvSpPr>
          <p:spPr>
            <a:xfrm>
              <a:off x="4570752" y="2587215"/>
              <a:ext cx="181132" cy="180307"/>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4F35E153-02A0-2AE1-480C-E489E4FE63BD}"/>
                </a:ext>
              </a:extLst>
            </p:cNvPr>
            <p:cNvSpPr txBox="1"/>
            <p:nvPr/>
          </p:nvSpPr>
          <p:spPr>
            <a:xfrm>
              <a:off x="6522167" y="6150114"/>
              <a:ext cx="2354259" cy="881602"/>
            </a:xfrm>
            <a:prstGeom prst="rect">
              <a:avLst/>
            </a:prstGeom>
            <a:noFill/>
          </p:spPr>
          <p:txBody>
            <a:bodyPr wrap="square">
              <a:spAutoFit/>
            </a:bodyPr>
            <a:lstStyle/>
            <a:p>
              <a:pPr algn="ctr"/>
              <a:r>
                <a:rPr lang="en-US" sz="2000" b="1" dirty="0">
                  <a:solidFill>
                    <a:schemeClr val="accent6">
                      <a:lumMod val="50000"/>
                    </a:schemeClr>
                  </a:solidFill>
                  <a:latin typeface="Avenir Black" panose="02000503020000020003" pitchFamily="2" charset="0"/>
                </a:rPr>
                <a:t>Didn’t do counselling</a:t>
              </a:r>
            </a:p>
          </p:txBody>
        </p:sp>
      </p:grpSp>
      <p:sp>
        <p:nvSpPr>
          <p:cNvPr id="4" name="Oval 3">
            <a:extLst>
              <a:ext uri="{FF2B5EF4-FFF2-40B4-BE49-F238E27FC236}">
                <a16:creationId xmlns:a16="http://schemas.microsoft.com/office/drawing/2014/main" id="{27C4AFD2-1D65-FD0B-B301-72E273AFEBFA}"/>
              </a:ext>
            </a:extLst>
          </p:cNvPr>
          <p:cNvSpPr/>
          <p:nvPr/>
        </p:nvSpPr>
        <p:spPr>
          <a:xfrm>
            <a:off x="5040778" y="4094025"/>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BD8045A9-5C13-3AE5-8DD2-4CA1B6FA71FE}"/>
              </a:ext>
            </a:extLst>
          </p:cNvPr>
          <p:cNvSpPr/>
          <p:nvPr/>
        </p:nvSpPr>
        <p:spPr>
          <a:xfrm>
            <a:off x="4561806" y="4565740"/>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5AD7C0D-A14D-3AC3-9895-08C007A15997}"/>
              </a:ext>
            </a:extLst>
          </p:cNvPr>
          <p:cNvSpPr/>
          <p:nvPr/>
        </p:nvSpPr>
        <p:spPr>
          <a:xfrm>
            <a:off x="5156892" y="5073740"/>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BF1977F-9F8D-9A9A-D3F5-88C850CFCE9E}"/>
              </a:ext>
            </a:extLst>
          </p:cNvPr>
          <p:cNvSpPr/>
          <p:nvPr/>
        </p:nvSpPr>
        <p:spPr>
          <a:xfrm>
            <a:off x="4663407" y="5320483"/>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75EA994-973A-0460-8D7C-ADB70AC6253B}"/>
              </a:ext>
            </a:extLst>
          </p:cNvPr>
          <p:cNvSpPr/>
          <p:nvPr/>
        </p:nvSpPr>
        <p:spPr>
          <a:xfrm>
            <a:off x="5178664" y="5661569"/>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4B6A107-12DF-6408-4E48-9DBA243F34CE}"/>
              </a:ext>
            </a:extLst>
          </p:cNvPr>
          <p:cNvSpPr/>
          <p:nvPr/>
        </p:nvSpPr>
        <p:spPr>
          <a:xfrm>
            <a:off x="4765007" y="5603511"/>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35B441E-B20D-D7DD-143F-F82475354812}"/>
              </a:ext>
            </a:extLst>
          </p:cNvPr>
          <p:cNvSpPr/>
          <p:nvPr/>
        </p:nvSpPr>
        <p:spPr>
          <a:xfrm>
            <a:off x="4931921" y="4964882"/>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5EC58F8-76F3-1026-7F05-36DE762949A7}"/>
              </a:ext>
            </a:extLst>
          </p:cNvPr>
          <p:cNvSpPr/>
          <p:nvPr/>
        </p:nvSpPr>
        <p:spPr>
          <a:xfrm>
            <a:off x="4975464" y="5218882"/>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956DD4D-DF53-3389-14F9-697DE8DCAC37}"/>
              </a:ext>
            </a:extLst>
          </p:cNvPr>
          <p:cNvSpPr/>
          <p:nvPr/>
        </p:nvSpPr>
        <p:spPr>
          <a:xfrm>
            <a:off x="4968206" y="4282711"/>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ACBA924-A227-071C-B98D-DDC0FE3C0FF1}"/>
              </a:ext>
            </a:extLst>
          </p:cNvPr>
          <p:cNvSpPr/>
          <p:nvPr/>
        </p:nvSpPr>
        <p:spPr>
          <a:xfrm>
            <a:off x="4489234" y="4754426"/>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92FAA20-0F13-765E-15D2-54CCB3684315}"/>
              </a:ext>
            </a:extLst>
          </p:cNvPr>
          <p:cNvSpPr/>
          <p:nvPr/>
        </p:nvSpPr>
        <p:spPr>
          <a:xfrm>
            <a:off x="5084320" y="5262426"/>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6408EFB-F522-E645-FA71-C0D2E795FAF4}"/>
              </a:ext>
            </a:extLst>
          </p:cNvPr>
          <p:cNvSpPr/>
          <p:nvPr/>
        </p:nvSpPr>
        <p:spPr>
          <a:xfrm>
            <a:off x="4590835" y="5509169"/>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9624B0C-5B10-C94B-2251-1773FE244F02}"/>
              </a:ext>
            </a:extLst>
          </p:cNvPr>
          <p:cNvSpPr/>
          <p:nvPr/>
        </p:nvSpPr>
        <p:spPr>
          <a:xfrm>
            <a:off x="5106092" y="5850255"/>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83AF152-3FEE-E51A-1709-1C2DB37A7E0D}"/>
              </a:ext>
            </a:extLst>
          </p:cNvPr>
          <p:cNvSpPr/>
          <p:nvPr/>
        </p:nvSpPr>
        <p:spPr>
          <a:xfrm>
            <a:off x="4692435" y="5792197"/>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0951E0A-0E17-DD68-2092-8620D3C9FFF5}"/>
              </a:ext>
            </a:extLst>
          </p:cNvPr>
          <p:cNvSpPr/>
          <p:nvPr/>
        </p:nvSpPr>
        <p:spPr>
          <a:xfrm>
            <a:off x="4859349" y="5153568"/>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537D374-36F3-E62C-131D-DF20AC30BD88}"/>
              </a:ext>
            </a:extLst>
          </p:cNvPr>
          <p:cNvSpPr/>
          <p:nvPr/>
        </p:nvSpPr>
        <p:spPr>
          <a:xfrm>
            <a:off x="4902892" y="5407568"/>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538BEEB0-1DA1-F850-39EA-FBDA4A3A9671}"/>
              </a:ext>
            </a:extLst>
          </p:cNvPr>
          <p:cNvSpPr/>
          <p:nvPr/>
        </p:nvSpPr>
        <p:spPr>
          <a:xfrm>
            <a:off x="5127863" y="4159340"/>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B6F18EC2-8337-7CBB-9185-420D9B3E3011}"/>
              </a:ext>
            </a:extLst>
          </p:cNvPr>
          <p:cNvSpPr/>
          <p:nvPr/>
        </p:nvSpPr>
        <p:spPr>
          <a:xfrm>
            <a:off x="4648891" y="4631055"/>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A5CF1EE7-8CA3-A74B-DEF5-7D0BF4F9A197}"/>
              </a:ext>
            </a:extLst>
          </p:cNvPr>
          <p:cNvSpPr/>
          <p:nvPr/>
        </p:nvSpPr>
        <p:spPr>
          <a:xfrm>
            <a:off x="5243977" y="5139055"/>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EB91721E-0642-AEDE-FEF4-C0A46E94480B}"/>
              </a:ext>
            </a:extLst>
          </p:cNvPr>
          <p:cNvSpPr/>
          <p:nvPr/>
        </p:nvSpPr>
        <p:spPr>
          <a:xfrm>
            <a:off x="4750492" y="5385798"/>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53E679E1-46B2-94BF-084E-EE74B0783EAD}"/>
              </a:ext>
            </a:extLst>
          </p:cNvPr>
          <p:cNvSpPr/>
          <p:nvPr/>
        </p:nvSpPr>
        <p:spPr>
          <a:xfrm>
            <a:off x="5265749" y="5726884"/>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9504249B-ACBF-6FE8-6371-C353906C529A}"/>
              </a:ext>
            </a:extLst>
          </p:cNvPr>
          <p:cNvSpPr/>
          <p:nvPr/>
        </p:nvSpPr>
        <p:spPr>
          <a:xfrm>
            <a:off x="4852092" y="5668826"/>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06735D0A-7BFF-20D2-F711-26D5FDCA5516}"/>
              </a:ext>
            </a:extLst>
          </p:cNvPr>
          <p:cNvSpPr/>
          <p:nvPr/>
        </p:nvSpPr>
        <p:spPr>
          <a:xfrm>
            <a:off x="5019006" y="5030197"/>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187ED65C-E05F-38C5-3D04-7AC231FBEC11}"/>
              </a:ext>
            </a:extLst>
          </p:cNvPr>
          <p:cNvSpPr/>
          <p:nvPr/>
        </p:nvSpPr>
        <p:spPr>
          <a:xfrm>
            <a:off x="5062549" y="5284197"/>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B7DD0C8B-3798-43DF-99A6-B3431D70A57E}"/>
              </a:ext>
            </a:extLst>
          </p:cNvPr>
          <p:cNvSpPr/>
          <p:nvPr/>
        </p:nvSpPr>
        <p:spPr>
          <a:xfrm>
            <a:off x="5026263" y="3716654"/>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747090C0-8DF8-7746-83E6-52EE4864DFC2}"/>
              </a:ext>
            </a:extLst>
          </p:cNvPr>
          <p:cNvSpPr/>
          <p:nvPr/>
        </p:nvSpPr>
        <p:spPr>
          <a:xfrm>
            <a:off x="4547291" y="4188369"/>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6B4E9116-670F-A2B1-A33E-03C028D46A1D}"/>
              </a:ext>
            </a:extLst>
          </p:cNvPr>
          <p:cNvSpPr/>
          <p:nvPr/>
        </p:nvSpPr>
        <p:spPr>
          <a:xfrm>
            <a:off x="5142377" y="4696369"/>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5A29305B-AEB0-B7A7-7CF1-662105E84D3B}"/>
              </a:ext>
            </a:extLst>
          </p:cNvPr>
          <p:cNvSpPr/>
          <p:nvPr/>
        </p:nvSpPr>
        <p:spPr>
          <a:xfrm>
            <a:off x="4648892" y="4943112"/>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30AF051-94D7-B0CA-E01C-A2179EBDC3F4}"/>
              </a:ext>
            </a:extLst>
          </p:cNvPr>
          <p:cNvSpPr/>
          <p:nvPr/>
        </p:nvSpPr>
        <p:spPr>
          <a:xfrm>
            <a:off x="5164149" y="5284198"/>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1962990F-8EAF-6824-BF38-DC106A87552D}"/>
              </a:ext>
            </a:extLst>
          </p:cNvPr>
          <p:cNvSpPr/>
          <p:nvPr/>
        </p:nvSpPr>
        <p:spPr>
          <a:xfrm>
            <a:off x="4750492" y="5226140"/>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E24F569A-9F93-2BCE-A579-3FB090A16257}"/>
              </a:ext>
            </a:extLst>
          </p:cNvPr>
          <p:cNvSpPr/>
          <p:nvPr/>
        </p:nvSpPr>
        <p:spPr>
          <a:xfrm>
            <a:off x="4917406" y="4587511"/>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93C29EE5-BDE4-33B7-6D0D-E2624983A40D}"/>
              </a:ext>
            </a:extLst>
          </p:cNvPr>
          <p:cNvSpPr/>
          <p:nvPr/>
        </p:nvSpPr>
        <p:spPr>
          <a:xfrm>
            <a:off x="4960949" y="4841511"/>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7B90636D-C0DC-4EE8-7C71-FE0294EC2752}"/>
              </a:ext>
            </a:extLst>
          </p:cNvPr>
          <p:cNvSpPr/>
          <p:nvPr/>
        </p:nvSpPr>
        <p:spPr>
          <a:xfrm>
            <a:off x="5033520" y="5538197"/>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54BE2D5D-CF03-0EDF-8697-EA545858FE5B}"/>
              </a:ext>
            </a:extLst>
          </p:cNvPr>
          <p:cNvSpPr/>
          <p:nvPr/>
        </p:nvSpPr>
        <p:spPr>
          <a:xfrm>
            <a:off x="4416662" y="4297226"/>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F7E9BB88-159D-E32B-4F34-E8212FC6B608}"/>
              </a:ext>
            </a:extLst>
          </p:cNvPr>
          <p:cNvSpPr/>
          <p:nvPr/>
        </p:nvSpPr>
        <p:spPr>
          <a:xfrm>
            <a:off x="5011748" y="4805226"/>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31EC81F3-8D6B-E5D7-C246-E6D6EA8422D1}"/>
              </a:ext>
            </a:extLst>
          </p:cNvPr>
          <p:cNvSpPr/>
          <p:nvPr/>
        </p:nvSpPr>
        <p:spPr>
          <a:xfrm>
            <a:off x="4518263" y="5051969"/>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8E5B7327-0A2A-E636-BE81-8EE5DD75D413}"/>
              </a:ext>
            </a:extLst>
          </p:cNvPr>
          <p:cNvSpPr/>
          <p:nvPr/>
        </p:nvSpPr>
        <p:spPr>
          <a:xfrm>
            <a:off x="5033520" y="5393055"/>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89C88125-B561-9968-4978-5E2C2875B27E}"/>
              </a:ext>
            </a:extLst>
          </p:cNvPr>
          <p:cNvSpPr/>
          <p:nvPr/>
        </p:nvSpPr>
        <p:spPr>
          <a:xfrm>
            <a:off x="4619863" y="5334997"/>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AC94F5B6-AE36-F9EC-68D8-B328CBC70AAD}"/>
              </a:ext>
            </a:extLst>
          </p:cNvPr>
          <p:cNvSpPr/>
          <p:nvPr/>
        </p:nvSpPr>
        <p:spPr>
          <a:xfrm>
            <a:off x="4786777" y="4696368"/>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889BFB4D-DB2C-0280-CC36-BE8057A3D0C7}"/>
              </a:ext>
            </a:extLst>
          </p:cNvPr>
          <p:cNvSpPr/>
          <p:nvPr/>
        </p:nvSpPr>
        <p:spPr>
          <a:xfrm>
            <a:off x="4830320" y="4950368"/>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426DFACE-3A4D-5E09-1DF6-6D0CF0C29445}"/>
              </a:ext>
            </a:extLst>
          </p:cNvPr>
          <p:cNvSpPr/>
          <p:nvPr/>
        </p:nvSpPr>
        <p:spPr>
          <a:xfrm>
            <a:off x="7617064" y="3973739"/>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2E4D6275-EE6E-BED8-8ECF-BB9D1308973E}"/>
              </a:ext>
            </a:extLst>
          </p:cNvPr>
          <p:cNvSpPr/>
          <p:nvPr/>
        </p:nvSpPr>
        <p:spPr>
          <a:xfrm>
            <a:off x="7203407" y="3915681"/>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8129A42D-2945-E2FA-569D-937B8A54D775}"/>
              </a:ext>
            </a:extLst>
          </p:cNvPr>
          <p:cNvSpPr/>
          <p:nvPr/>
        </p:nvSpPr>
        <p:spPr>
          <a:xfrm>
            <a:off x="7029235" y="3821339"/>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68BF37A4-BE8B-4EAA-2F20-B7F7A4600CA9}"/>
              </a:ext>
            </a:extLst>
          </p:cNvPr>
          <p:cNvSpPr/>
          <p:nvPr/>
        </p:nvSpPr>
        <p:spPr>
          <a:xfrm>
            <a:off x="7544492" y="4162425"/>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B3AC0C1C-F8A5-D001-E748-C144D10C8F77}"/>
              </a:ext>
            </a:extLst>
          </p:cNvPr>
          <p:cNvSpPr/>
          <p:nvPr/>
        </p:nvSpPr>
        <p:spPr>
          <a:xfrm>
            <a:off x="7130835" y="4104367"/>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BB311B56-E815-B010-D5BE-D14DE2F6EEF9}"/>
              </a:ext>
            </a:extLst>
          </p:cNvPr>
          <p:cNvSpPr/>
          <p:nvPr/>
        </p:nvSpPr>
        <p:spPr>
          <a:xfrm>
            <a:off x="7471920" y="3850367"/>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113E1F4F-F86E-29F1-44E0-5562CC6737C3}"/>
              </a:ext>
            </a:extLst>
          </p:cNvPr>
          <p:cNvSpPr/>
          <p:nvPr/>
        </p:nvSpPr>
        <p:spPr>
          <a:xfrm>
            <a:off x="7325417" y="4520565"/>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508B45D7-884A-D1CD-0712-5CDB6FD404F0}"/>
              </a:ext>
            </a:extLst>
          </p:cNvPr>
          <p:cNvSpPr/>
          <p:nvPr/>
        </p:nvSpPr>
        <p:spPr>
          <a:xfrm>
            <a:off x="7632122" y="4930140"/>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35736D50-05C1-7D04-1C77-AD7CA39BA1A8}"/>
              </a:ext>
            </a:extLst>
          </p:cNvPr>
          <p:cNvSpPr/>
          <p:nvPr/>
        </p:nvSpPr>
        <p:spPr>
          <a:xfrm>
            <a:off x="7184447" y="5654040"/>
            <a:ext cx="145441" cy="144778"/>
          </a:xfrm>
          <a:prstGeom prst="ellipse">
            <a:avLst/>
          </a:prstGeom>
          <a:solidFill>
            <a:srgbClr val="25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2380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BA125-4DBD-081D-1658-CD41631EA93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3042AE3-D4C9-BAFE-76D2-6748F679B371}"/>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‘Selection </a:t>
            </a:r>
            <a:r>
              <a:rPr lang="en-GB" sz="6000" dirty="0" err="1">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Bias’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1265D1FF-A5A7-609D-7874-594FD13C9FA6}"/>
              </a:ext>
            </a:extLst>
          </p:cNvPr>
          <p:cNvSpPr txBox="1"/>
          <p:nvPr/>
        </p:nvSpPr>
        <p:spPr>
          <a:xfrm>
            <a:off x="409063" y="1452429"/>
            <a:ext cx="10873703" cy="3323987"/>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We have added considered only one group in our data, but in this case we SHOULDN’T have had groups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(when we want to know about the effectiveness of couples counselling, we want to know for couples in general, not couples that have or haven’t spoken to a divorce lawyer first)</a:t>
            </a:r>
          </a:p>
        </p:txBody>
      </p:sp>
    </p:spTree>
    <p:extLst>
      <p:ext uri="{BB962C8B-B14F-4D97-AF65-F5344CB8AC3E}">
        <p14:creationId xmlns:p14="http://schemas.microsoft.com/office/powerpoint/2010/main" val="28748011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01E69-3402-58A7-D974-3D2A27019B4F}"/>
            </a:ext>
          </a:extLst>
        </p:cNvPr>
        <p:cNvGrpSpPr/>
        <p:nvPr/>
      </p:nvGrpSpPr>
      <p:grpSpPr>
        <a:xfrm>
          <a:off x="0" y="0"/>
          <a:ext cx="0" cy="0"/>
          <a:chOff x="0" y="0"/>
          <a:chExt cx="0" cy="0"/>
        </a:xfrm>
      </p:grpSpPr>
      <p:sp>
        <p:nvSpPr>
          <p:cNvPr id="68" name="TextBox 67">
            <a:extLst>
              <a:ext uri="{FF2B5EF4-FFF2-40B4-BE49-F238E27FC236}">
                <a16:creationId xmlns:a16="http://schemas.microsoft.com/office/drawing/2014/main" id="{438186B7-351F-F03D-EFA1-E53312EA990E}"/>
              </a:ext>
            </a:extLst>
          </p:cNvPr>
          <p:cNvSpPr txBox="1"/>
          <p:nvPr/>
        </p:nvSpPr>
        <p:spPr>
          <a:xfrm>
            <a:off x="348718" y="2895306"/>
            <a:ext cx="11291363" cy="1015663"/>
          </a:xfrm>
          <a:prstGeom prst="rect">
            <a:avLst/>
          </a:prstGeom>
          <a:noFill/>
        </p:spPr>
        <p:txBody>
          <a:bodyPr wrap="square">
            <a:spAutoFit/>
          </a:bodyPr>
          <a:lstStyle/>
          <a:p>
            <a:pPr algn="ct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Your Turn</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28240730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FE89C-668F-B7F7-DE72-C4919A0BEA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EC97E3-D14A-1C62-FFEC-F505BAE6952A}"/>
              </a:ext>
            </a:extLst>
          </p:cNvPr>
          <p:cNvSpPr txBox="1"/>
          <p:nvPr/>
        </p:nvSpPr>
        <p:spPr>
          <a:xfrm>
            <a:off x="695666" y="947461"/>
            <a:ext cx="10873703" cy="2400657"/>
          </a:xfrm>
          <a:prstGeom prst="rect">
            <a:avLst/>
          </a:prstGeom>
          <a:noFill/>
        </p:spPr>
        <p:txBody>
          <a:bodyPr wrap="square">
            <a:spAutoFit/>
          </a:bodyPr>
          <a:lstStyle/>
          <a:p>
            <a:pPr marL="514350" indent="-514350">
              <a:buFont typeface="+mj-lt"/>
              <a:buAutoNum type="arabicPeriod"/>
            </a:pPr>
            <a:r>
              <a:rPr lang="en-US" sz="3000" dirty="0">
                <a:solidFill>
                  <a:schemeClr val="accent6">
                    <a:lumMod val="50000"/>
                  </a:schemeClr>
                </a:solidFill>
                <a:latin typeface="Avenir Book" panose="02000503020000020003" pitchFamily="2" charset="0"/>
              </a:rPr>
              <a:t>Temperature is a confounding factor (it affects both how much ice cream we eat and whether we’re sunburnt)</a:t>
            </a: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38993567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7A70F-DEF1-BAA3-332E-77B0891773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6EC9BC5-7FBA-E3ED-830F-A296FDB71FC8}"/>
              </a:ext>
            </a:extLst>
          </p:cNvPr>
          <p:cNvSpPr txBox="1"/>
          <p:nvPr/>
        </p:nvSpPr>
        <p:spPr>
          <a:xfrm>
            <a:off x="695666" y="947461"/>
            <a:ext cx="10873703" cy="4708981"/>
          </a:xfrm>
          <a:prstGeom prst="rect">
            <a:avLst/>
          </a:prstGeom>
          <a:noFill/>
        </p:spPr>
        <p:txBody>
          <a:bodyPr wrap="square">
            <a:spAutoFit/>
          </a:bodyPr>
          <a:lstStyle/>
          <a:p>
            <a:pPr marL="514350" indent="-514350">
              <a:buFont typeface="+mj-lt"/>
              <a:buAutoNum type="arabicPeriod"/>
            </a:pPr>
            <a:r>
              <a:rPr lang="en-US" sz="3000" dirty="0">
                <a:solidFill>
                  <a:schemeClr val="accent6">
                    <a:lumMod val="50000"/>
                  </a:schemeClr>
                </a:solidFill>
                <a:latin typeface="Avenir Book" panose="02000503020000020003" pitchFamily="2" charset="0"/>
              </a:rPr>
              <a:t>Temperature is a confounding factor (it affects both how much ice cream we eat and whether we’re sunburnt)</a:t>
            </a: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r>
              <a:rPr lang="en-US" sz="3000" dirty="0">
                <a:solidFill>
                  <a:schemeClr val="accent6">
                    <a:lumMod val="50000"/>
                  </a:schemeClr>
                </a:solidFill>
                <a:latin typeface="Avenir Book" panose="02000503020000020003" pitchFamily="2" charset="0"/>
              </a:rPr>
              <a:t>Age is a confounding factor (it affects both a child’s height, and their reading ability)</a:t>
            </a: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p:txBody>
      </p:sp>
      <p:grpSp>
        <p:nvGrpSpPr>
          <p:cNvPr id="21" name="Group 20">
            <a:extLst>
              <a:ext uri="{FF2B5EF4-FFF2-40B4-BE49-F238E27FC236}">
                <a16:creationId xmlns:a16="http://schemas.microsoft.com/office/drawing/2014/main" id="{15427392-1B90-3EC0-F788-16BF5EB77212}"/>
              </a:ext>
            </a:extLst>
          </p:cNvPr>
          <p:cNvGrpSpPr/>
          <p:nvPr/>
        </p:nvGrpSpPr>
        <p:grpSpPr>
          <a:xfrm>
            <a:off x="2698523" y="3589330"/>
            <a:ext cx="3899500" cy="3328954"/>
            <a:chOff x="2462349" y="1865939"/>
            <a:chExt cx="6160608" cy="5196907"/>
          </a:xfrm>
        </p:grpSpPr>
        <p:grpSp>
          <p:nvGrpSpPr>
            <p:cNvPr id="3" name="Group 2">
              <a:extLst>
                <a:ext uri="{FF2B5EF4-FFF2-40B4-BE49-F238E27FC236}">
                  <a16:creationId xmlns:a16="http://schemas.microsoft.com/office/drawing/2014/main" id="{04D5A9BB-46ED-210C-4EB9-4B8F57DB35E0}"/>
                </a:ext>
              </a:extLst>
            </p:cNvPr>
            <p:cNvGrpSpPr/>
            <p:nvPr/>
          </p:nvGrpSpPr>
          <p:grpSpPr>
            <a:xfrm>
              <a:off x="2462349" y="1865939"/>
              <a:ext cx="6160608" cy="5196907"/>
              <a:chOff x="2107602" y="950980"/>
              <a:chExt cx="7343145" cy="6222790"/>
            </a:xfrm>
          </p:grpSpPr>
          <p:cxnSp>
            <p:nvCxnSpPr>
              <p:cNvPr id="4" name="Straight Arrow Connector 3">
                <a:extLst>
                  <a:ext uri="{FF2B5EF4-FFF2-40B4-BE49-F238E27FC236}">
                    <a16:creationId xmlns:a16="http://schemas.microsoft.com/office/drawing/2014/main" id="{4619F0AF-190D-82D5-628B-820BAFF71162}"/>
                  </a:ext>
                </a:extLst>
              </p:cNvPr>
              <p:cNvCxnSpPr>
                <a:cxnSpLocks/>
              </p:cNvCxnSpPr>
              <p:nvPr/>
            </p:nvCxnSpPr>
            <p:spPr>
              <a:xfrm flipV="1">
                <a:off x="3447393" y="1145628"/>
                <a:ext cx="0" cy="486410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17FF3F6A-AE48-6F01-A8D2-9B715AD30EB2}"/>
                  </a:ext>
                </a:extLst>
              </p:cNvPr>
              <p:cNvCxnSpPr>
                <a:cxnSpLocks/>
              </p:cNvCxnSpPr>
              <p:nvPr/>
            </p:nvCxnSpPr>
            <p:spPr>
              <a:xfrm>
                <a:off x="3447393" y="6009728"/>
                <a:ext cx="549691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F4F1A21-171F-C417-9E35-0EC3A80252A5}"/>
                  </a:ext>
                </a:extLst>
              </p:cNvPr>
              <p:cNvSpPr txBox="1"/>
              <p:nvPr/>
            </p:nvSpPr>
            <p:spPr>
              <a:xfrm>
                <a:off x="5877911" y="6138185"/>
                <a:ext cx="3572836" cy="1035585"/>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Height</a:t>
                </a:r>
              </a:p>
            </p:txBody>
          </p:sp>
          <p:sp>
            <p:nvSpPr>
              <p:cNvPr id="7" name="TextBox 6">
                <a:extLst>
                  <a:ext uri="{FF2B5EF4-FFF2-40B4-BE49-F238E27FC236}">
                    <a16:creationId xmlns:a16="http://schemas.microsoft.com/office/drawing/2014/main" id="{43F8B995-0FBE-3F1C-B68B-A7E44B97B4A7}"/>
                  </a:ext>
                </a:extLst>
              </p:cNvPr>
              <p:cNvSpPr txBox="1"/>
              <p:nvPr/>
            </p:nvSpPr>
            <p:spPr>
              <a:xfrm rot="16200000">
                <a:off x="459698" y="2598884"/>
                <a:ext cx="4339041" cy="1043233"/>
              </a:xfrm>
              <a:prstGeom prst="rect">
                <a:avLst/>
              </a:prstGeom>
              <a:noFill/>
            </p:spPr>
            <p:txBody>
              <a:bodyPr wrap="square">
                <a:spAutoFit/>
              </a:bodyPr>
              <a:lstStyle/>
              <a:p>
                <a:r>
                  <a:rPr lang="en-US" sz="3000" b="1" dirty="0">
                    <a:solidFill>
                      <a:schemeClr val="accent6">
                        <a:lumMod val="50000"/>
                      </a:schemeClr>
                    </a:solidFill>
                    <a:latin typeface="Avenir Black" panose="02000503020000020003" pitchFamily="2" charset="0"/>
                  </a:rPr>
                  <a:t>Literacy</a:t>
                </a:r>
              </a:p>
            </p:txBody>
          </p:sp>
          <p:sp>
            <p:nvSpPr>
              <p:cNvPr id="8" name="Oval 7">
                <a:extLst>
                  <a:ext uri="{FF2B5EF4-FFF2-40B4-BE49-F238E27FC236}">
                    <a16:creationId xmlns:a16="http://schemas.microsoft.com/office/drawing/2014/main" id="{6254B40F-6229-C2E7-795A-87A003901D41}"/>
                  </a:ext>
                </a:extLst>
              </p:cNvPr>
              <p:cNvSpPr/>
              <p:nvPr/>
            </p:nvSpPr>
            <p:spPr>
              <a:xfrm>
                <a:off x="3904593" y="4561928"/>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4D0BCDA-16AA-BEB2-7743-4937CC331EFB}"/>
                  </a:ext>
                </a:extLst>
              </p:cNvPr>
              <p:cNvSpPr/>
              <p:nvPr/>
            </p:nvSpPr>
            <p:spPr>
              <a:xfrm>
                <a:off x="5047593" y="4576216"/>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469F4B9-8272-5684-B5DC-6CA0430E2A34}"/>
                  </a:ext>
                </a:extLst>
              </p:cNvPr>
              <p:cNvSpPr/>
              <p:nvPr/>
            </p:nvSpPr>
            <p:spPr>
              <a:xfrm>
                <a:off x="4366555" y="3599904"/>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B1C7774-C200-84C1-D94D-19F9BB9B37B1}"/>
                  </a:ext>
                </a:extLst>
              </p:cNvPr>
              <p:cNvSpPr/>
              <p:nvPr/>
            </p:nvSpPr>
            <p:spPr>
              <a:xfrm>
                <a:off x="6886019" y="361611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31BF312-87F7-18C6-A988-1E9177E14F69}"/>
                  </a:ext>
                </a:extLst>
              </p:cNvPr>
              <p:cNvSpPr/>
              <p:nvPr/>
            </p:nvSpPr>
            <p:spPr>
              <a:xfrm>
                <a:off x="5339321" y="2328823"/>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00284C1-356A-F71C-DDB3-B0C1B49374B8}"/>
                  </a:ext>
                </a:extLst>
              </p:cNvPr>
              <p:cNvSpPr/>
              <p:nvPr/>
            </p:nvSpPr>
            <p:spPr>
              <a:xfrm>
                <a:off x="5472265" y="3428049"/>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6D264ED-8D18-E326-FC2E-359C40F3FDA2}"/>
                  </a:ext>
                </a:extLst>
              </p:cNvPr>
              <p:cNvSpPr/>
              <p:nvPr/>
            </p:nvSpPr>
            <p:spPr>
              <a:xfrm>
                <a:off x="5858129" y="280223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3BEF331-9BC7-0F64-9CFD-F0D8CAC2F451}"/>
                  </a:ext>
                </a:extLst>
              </p:cNvPr>
              <p:cNvSpPr/>
              <p:nvPr/>
            </p:nvSpPr>
            <p:spPr>
              <a:xfrm>
                <a:off x="6153201" y="1560339"/>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47DFD2E-05EA-B640-90F0-3DAED6B835A7}"/>
                  </a:ext>
                </a:extLst>
              </p:cNvPr>
              <p:cNvSpPr/>
              <p:nvPr/>
            </p:nvSpPr>
            <p:spPr>
              <a:xfrm>
                <a:off x="6694707" y="2432586"/>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7F5E391-9C26-0A7B-E775-EED2F39FC16C}"/>
                  </a:ext>
                </a:extLst>
              </p:cNvPr>
              <p:cNvSpPr/>
              <p:nvPr/>
            </p:nvSpPr>
            <p:spPr>
              <a:xfrm>
                <a:off x="7482648" y="1735437"/>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BFE57D2-A1A6-2C9F-450F-8F2D89D167C1}"/>
                  </a:ext>
                </a:extLst>
              </p:cNvPr>
              <p:cNvSpPr/>
              <p:nvPr/>
            </p:nvSpPr>
            <p:spPr>
              <a:xfrm>
                <a:off x="5967248" y="4297692"/>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EA81467-5004-3CC3-998B-F10B1D46D058}"/>
                  </a:ext>
                </a:extLst>
              </p:cNvPr>
              <p:cNvSpPr/>
              <p:nvPr/>
            </p:nvSpPr>
            <p:spPr>
              <a:xfrm>
                <a:off x="5089635" y="5353982"/>
                <a:ext cx="215900" cy="215900"/>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Connector 19">
              <a:extLst>
                <a:ext uri="{FF2B5EF4-FFF2-40B4-BE49-F238E27FC236}">
                  <a16:creationId xmlns:a16="http://schemas.microsoft.com/office/drawing/2014/main" id="{C66A2C0C-0E60-A3F9-85D3-AA02CE7D04D8}"/>
                </a:ext>
              </a:extLst>
            </p:cNvPr>
            <p:cNvCxnSpPr/>
            <p:nvPr/>
          </p:nvCxnSpPr>
          <p:spPr>
            <a:xfrm flipV="1">
              <a:off x="4114800" y="2339163"/>
              <a:ext cx="2902688" cy="3306725"/>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375408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D7ACC-CD97-A601-E1B4-DB3BD52F42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67AC697-11CB-F67C-00EB-CFB9CE6B3A13}"/>
              </a:ext>
            </a:extLst>
          </p:cNvPr>
          <p:cNvSpPr txBox="1"/>
          <p:nvPr/>
        </p:nvSpPr>
        <p:spPr>
          <a:xfrm>
            <a:off x="695666" y="947461"/>
            <a:ext cx="10873703" cy="4708981"/>
          </a:xfrm>
          <a:prstGeom prst="rect">
            <a:avLst/>
          </a:prstGeom>
          <a:noFill/>
        </p:spPr>
        <p:txBody>
          <a:bodyPr wrap="square">
            <a:spAutoFit/>
          </a:bodyPr>
          <a:lstStyle/>
          <a:p>
            <a:pPr marL="514350" indent="-514350">
              <a:buFont typeface="+mj-lt"/>
              <a:buAutoNum type="arabicPeriod"/>
            </a:pPr>
            <a:r>
              <a:rPr lang="en-US" sz="3000" dirty="0">
                <a:solidFill>
                  <a:schemeClr val="accent6">
                    <a:lumMod val="50000"/>
                  </a:schemeClr>
                </a:solidFill>
                <a:latin typeface="Avenir Book" panose="02000503020000020003" pitchFamily="2" charset="0"/>
              </a:rPr>
              <a:t>Temperature is a confounding factor (it affects both how much ice cream we eat and whether we’re sunburnt)</a:t>
            </a: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r>
              <a:rPr lang="en-US" sz="3000" dirty="0">
                <a:solidFill>
                  <a:schemeClr val="accent6">
                    <a:lumMod val="50000"/>
                  </a:schemeClr>
                </a:solidFill>
                <a:latin typeface="Avenir Book" panose="02000503020000020003" pitchFamily="2" charset="0"/>
              </a:rPr>
              <a:t>Age is a confounding factor (it affects both a child’s height, and their reading ability)</a:t>
            </a: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p:txBody>
      </p:sp>
      <p:grpSp>
        <p:nvGrpSpPr>
          <p:cNvPr id="44" name="Group 43">
            <a:extLst>
              <a:ext uri="{FF2B5EF4-FFF2-40B4-BE49-F238E27FC236}">
                <a16:creationId xmlns:a16="http://schemas.microsoft.com/office/drawing/2014/main" id="{A6EE7FF6-96EA-8821-6A61-73ABD9BCECAF}"/>
              </a:ext>
            </a:extLst>
          </p:cNvPr>
          <p:cNvGrpSpPr/>
          <p:nvPr/>
        </p:nvGrpSpPr>
        <p:grpSpPr>
          <a:xfrm>
            <a:off x="2930581" y="3536909"/>
            <a:ext cx="3082375" cy="3321093"/>
            <a:chOff x="2798856" y="1188972"/>
            <a:chExt cx="5399215" cy="5817363"/>
          </a:xfrm>
        </p:grpSpPr>
        <p:grpSp>
          <p:nvGrpSpPr>
            <p:cNvPr id="22" name="Group 21">
              <a:extLst>
                <a:ext uri="{FF2B5EF4-FFF2-40B4-BE49-F238E27FC236}">
                  <a16:creationId xmlns:a16="http://schemas.microsoft.com/office/drawing/2014/main" id="{42FF6186-D11A-7E68-44C7-7EB2C5285AFA}"/>
                </a:ext>
              </a:extLst>
            </p:cNvPr>
            <p:cNvGrpSpPr/>
            <p:nvPr/>
          </p:nvGrpSpPr>
          <p:grpSpPr>
            <a:xfrm>
              <a:off x="2798856" y="1188972"/>
              <a:ext cx="5399215" cy="5817363"/>
              <a:chOff x="2508702" y="140379"/>
              <a:chExt cx="6435601" cy="6965727"/>
            </a:xfrm>
          </p:grpSpPr>
          <p:cxnSp>
            <p:nvCxnSpPr>
              <p:cNvPr id="23" name="Straight Arrow Connector 22">
                <a:extLst>
                  <a:ext uri="{FF2B5EF4-FFF2-40B4-BE49-F238E27FC236}">
                    <a16:creationId xmlns:a16="http://schemas.microsoft.com/office/drawing/2014/main" id="{8334370C-9C29-FF01-DB96-D7E5070BACB9}"/>
                  </a:ext>
                </a:extLst>
              </p:cNvPr>
              <p:cNvCxnSpPr>
                <a:cxnSpLocks/>
              </p:cNvCxnSpPr>
              <p:nvPr/>
            </p:nvCxnSpPr>
            <p:spPr>
              <a:xfrm flipV="1">
                <a:off x="3447393" y="1145628"/>
                <a:ext cx="0" cy="486410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35F6AA5-0423-DA00-50BA-D275057790F6}"/>
                  </a:ext>
                </a:extLst>
              </p:cNvPr>
              <p:cNvCxnSpPr>
                <a:cxnSpLocks/>
              </p:cNvCxnSpPr>
              <p:nvPr/>
            </p:nvCxnSpPr>
            <p:spPr>
              <a:xfrm>
                <a:off x="3447393" y="6009728"/>
                <a:ext cx="5496910"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A934446E-C820-6D83-6030-0237BD362F9B}"/>
                  </a:ext>
                </a:extLst>
              </p:cNvPr>
              <p:cNvSpPr txBox="1"/>
              <p:nvPr/>
            </p:nvSpPr>
            <p:spPr>
              <a:xfrm>
                <a:off x="5036749" y="6266907"/>
                <a:ext cx="2920479" cy="839199"/>
              </a:xfrm>
              <a:prstGeom prst="rect">
                <a:avLst/>
              </a:prstGeom>
              <a:noFill/>
            </p:spPr>
            <p:txBody>
              <a:bodyPr wrap="square">
                <a:spAutoFit/>
              </a:bodyPr>
              <a:lstStyle/>
              <a:p>
                <a:r>
                  <a:rPr lang="en-US" sz="2000" b="1">
                    <a:solidFill>
                      <a:schemeClr val="accent6">
                        <a:lumMod val="50000"/>
                      </a:schemeClr>
                    </a:solidFill>
                    <a:latin typeface="Avenir Black" panose="02000503020000020003" pitchFamily="2" charset="0"/>
                  </a:rPr>
                  <a:t>Height</a:t>
                </a:r>
                <a:endParaRPr lang="en-US" sz="2000" b="1" dirty="0">
                  <a:solidFill>
                    <a:schemeClr val="accent6">
                      <a:lumMod val="50000"/>
                    </a:schemeClr>
                  </a:solidFill>
                  <a:latin typeface="Avenir Black" panose="02000503020000020003" pitchFamily="2" charset="0"/>
                </a:endParaRPr>
              </a:p>
            </p:txBody>
          </p:sp>
          <p:sp>
            <p:nvSpPr>
              <p:cNvPr id="26" name="TextBox 25">
                <a:extLst>
                  <a:ext uri="{FF2B5EF4-FFF2-40B4-BE49-F238E27FC236}">
                    <a16:creationId xmlns:a16="http://schemas.microsoft.com/office/drawing/2014/main" id="{22F4419B-335E-D4C8-8328-B6E037BD58ED}"/>
                  </a:ext>
                </a:extLst>
              </p:cNvPr>
              <p:cNvSpPr txBox="1"/>
              <p:nvPr/>
            </p:nvSpPr>
            <p:spPr>
              <a:xfrm rot="16200000">
                <a:off x="511296" y="2137785"/>
                <a:ext cx="4830189" cy="835378"/>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Literacy</a:t>
                </a:r>
              </a:p>
            </p:txBody>
          </p:sp>
          <p:sp>
            <p:nvSpPr>
              <p:cNvPr id="27" name="Oval 26">
                <a:extLst>
                  <a:ext uri="{FF2B5EF4-FFF2-40B4-BE49-F238E27FC236}">
                    <a16:creationId xmlns:a16="http://schemas.microsoft.com/office/drawing/2014/main" id="{A550E6D4-0E00-BFB0-02D6-4EB58A249C8D}"/>
                  </a:ext>
                </a:extLst>
              </p:cNvPr>
              <p:cNvSpPr/>
              <p:nvPr/>
            </p:nvSpPr>
            <p:spPr>
              <a:xfrm>
                <a:off x="3904593" y="4561928"/>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127974F6-5AAC-0FCB-9FEE-950F0BDBB55E}"/>
                  </a:ext>
                </a:extLst>
              </p:cNvPr>
              <p:cNvSpPr/>
              <p:nvPr/>
            </p:nvSpPr>
            <p:spPr>
              <a:xfrm>
                <a:off x="5047593" y="4576216"/>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9522A7B4-6B22-49F7-DA95-6E68B89B4715}"/>
                  </a:ext>
                </a:extLst>
              </p:cNvPr>
              <p:cNvSpPr/>
              <p:nvPr/>
            </p:nvSpPr>
            <p:spPr>
              <a:xfrm>
                <a:off x="4366555" y="3599904"/>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01498F50-47E5-5D49-55B7-78BF705FAC92}"/>
                  </a:ext>
                </a:extLst>
              </p:cNvPr>
              <p:cNvSpPr/>
              <p:nvPr/>
            </p:nvSpPr>
            <p:spPr>
              <a:xfrm>
                <a:off x="6886019" y="361611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22E6707-9423-3CC8-12F8-AA6FCE437189}"/>
                  </a:ext>
                </a:extLst>
              </p:cNvPr>
              <p:cNvSpPr/>
              <p:nvPr/>
            </p:nvSpPr>
            <p:spPr>
              <a:xfrm>
                <a:off x="5339321" y="2328823"/>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329E3E8-AADE-BD27-E5F4-FFBDD817600C}"/>
                  </a:ext>
                </a:extLst>
              </p:cNvPr>
              <p:cNvSpPr/>
              <p:nvPr/>
            </p:nvSpPr>
            <p:spPr>
              <a:xfrm>
                <a:off x="5472265" y="3428049"/>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DB800A36-E781-5139-4B29-45D8677CE71C}"/>
                  </a:ext>
                </a:extLst>
              </p:cNvPr>
              <p:cNvSpPr/>
              <p:nvPr/>
            </p:nvSpPr>
            <p:spPr>
              <a:xfrm>
                <a:off x="5858129" y="2802237"/>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9D0275B-2C35-FE64-98CB-EC99864AC06E}"/>
                  </a:ext>
                </a:extLst>
              </p:cNvPr>
              <p:cNvSpPr/>
              <p:nvPr/>
            </p:nvSpPr>
            <p:spPr>
              <a:xfrm>
                <a:off x="6153201" y="1560339"/>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6D2D7C1C-EFD6-E549-7B06-BB7601119505}"/>
                  </a:ext>
                </a:extLst>
              </p:cNvPr>
              <p:cNvSpPr/>
              <p:nvPr/>
            </p:nvSpPr>
            <p:spPr>
              <a:xfrm>
                <a:off x="6694707" y="2432586"/>
                <a:ext cx="215900" cy="2159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31A8E58-4063-12FE-7FFF-D32F52176CFA}"/>
                  </a:ext>
                </a:extLst>
              </p:cNvPr>
              <p:cNvSpPr/>
              <p:nvPr/>
            </p:nvSpPr>
            <p:spPr>
              <a:xfrm>
                <a:off x="7482648" y="1735437"/>
                <a:ext cx="215900" cy="2159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6144E88-5D27-CAD0-D941-693B723180FC}"/>
                  </a:ext>
                </a:extLst>
              </p:cNvPr>
              <p:cNvSpPr/>
              <p:nvPr/>
            </p:nvSpPr>
            <p:spPr>
              <a:xfrm>
                <a:off x="5967248" y="429769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a:extLst>
                  <a:ext uri="{FF2B5EF4-FFF2-40B4-BE49-F238E27FC236}">
                    <a16:creationId xmlns:a16="http://schemas.microsoft.com/office/drawing/2014/main" id="{DC655EE5-49E6-74B8-E989-92C339CA61C8}"/>
                  </a:ext>
                </a:extLst>
              </p:cNvPr>
              <p:cNvSpPr/>
              <p:nvPr/>
            </p:nvSpPr>
            <p:spPr>
              <a:xfrm>
                <a:off x="5089635" y="5353982"/>
                <a:ext cx="215900" cy="2159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9" name="Straight Connector 38">
              <a:extLst>
                <a:ext uri="{FF2B5EF4-FFF2-40B4-BE49-F238E27FC236}">
                  <a16:creationId xmlns:a16="http://schemas.microsoft.com/office/drawing/2014/main" id="{4D4AAE32-B07B-187C-DC37-7065984C7F06}"/>
                </a:ext>
              </a:extLst>
            </p:cNvPr>
            <p:cNvCxnSpPr>
              <a:cxnSpLocks/>
            </p:cNvCxnSpPr>
            <p:nvPr/>
          </p:nvCxnSpPr>
          <p:spPr>
            <a:xfrm>
              <a:off x="3817088" y="4922874"/>
              <a:ext cx="2083981"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3783A14-E3D0-DC9A-C852-C1F525FEE9B5}"/>
                </a:ext>
              </a:extLst>
            </p:cNvPr>
            <p:cNvCxnSpPr>
              <a:cxnSpLocks/>
            </p:cNvCxnSpPr>
            <p:nvPr/>
          </p:nvCxnSpPr>
          <p:spPr>
            <a:xfrm>
              <a:off x="4990214" y="3661144"/>
              <a:ext cx="1782726"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0177FC9-74A7-5F8C-5419-FAF19CEF9FE4}"/>
                </a:ext>
              </a:extLst>
            </p:cNvPr>
            <p:cNvCxnSpPr>
              <a:cxnSpLocks/>
              <a:endCxn id="36" idx="7"/>
            </p:cNvCxnSpPr>
            <p:nvPr/>
          </p:nvCxnSpPr>
          <p:spPr>
            <a:xfrm>
              <a:off x="5833730" y="2527005"/>
              <a:ext cx="1292675" cy="20471"/>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5250C759-9E12-1DC1-5847-866DB6CB6C0E}"/>
              </a:ext>
            </a:extLst>
          </p:cNvPr>
          <p:cNvSpPr txBox="1"/>
          <p:nvPr/>
        </p:nvSpPr>
        <p:spPr>
          <a:xfrm>
            <a:off x="6642559" y="4889067"/>
            <a:ext cx="1398783" cy="1015663"/>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Data grouped by age</a:t>
            </a:r>
          </a:p>
        </p:txBody>
      </p:sp>
    </p:spTree>
    <p:extLst>
      <p:ext uri="{BB962C8B-B14F-4D97-AF65-F5344CB8AC3E}">
        <p14:creationId xmlns:p14="http://schemas.microsoft.com/office/powerpoint/2010/main" val="5905506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8DC7B-B1A6-9EDD-8FD6-C91B30C967C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B089F3-8B28-F3B4-7A33-3601C7166F02}"/>
              </a:ext>
            </a:extLst>
          </p:cNvPr>
          <p:cNvSpPr txBox="1"/>
          <p:nvPr/>
        </p:nvSpPr>
        <p:spPr>
          <a:xfrm>
            <a:off x="695666" y="947461"/>
            <a:ext cx="10873703" cy="193899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3. Confounding factor: We haven’t considered bird abundance *before* the sites were protected. What if bird abundances were already high in those areas, and that’s why we decided to protect them?</a:t>
            </a:r>
          </a:p>
        </p:txBody>
      </p:sp>
    </p:spTree>
    <p:extLst>
      <p:ext uri="{BB962C8B-B14F-4D97-AF65-F5344CB8AC3E}">
        <p14:creationId xmlns:p14="http://schemas.microsoft.com/office/powerpoint/2010/main" val="30449386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BB232-C220-9C0C-4D6E-005C82D1C9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7399239-538F-98CD-FF12-EBDA39571C97}"/>
              </a:ext>
            </a:extLst>
          </p:cNvPr>
          <p:cNvSpPr txBox="1"/>
          <p:nvPr/>
        </p:nvSpPr>
        <p:spPr>
          <a:xfrm>
            <a:off x="695666" y="947461"/>
            <a:ext cx="10873703" cy="147732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4. Selection Bias: we are only considering NBA players. Why might someone get into the NBA? The number of hoops they shoot – we’ve artificially sliced the data</a:t>
            </a:r>
          </a:p>
        </p:txBody>
      </p:sp>
    </p:spTree>
    <p:extLst>
      <p:ext uri="{BB962C8B-B14F-4D97-AF65-F5344CB8AC3E}">
        <p14:creationId xmlns:p14="http://schemas.microsoft.com/office/powerpoint/2010/main" val="7939276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36B4B-EF63-B4A8-4A21-7C0720DF56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48A351-FF26-6518-21E4-B16EFDAEB224}"/>
              </a:ext>
            </a:extLst>
          </p:cNvPr>
          <p:cNvSpPr txBox="1"/>
          <p:nvPr/>
        </p:nvSpPr>
        <p:spPr>
          <a:xfrm>
            <a:off x="695666" y="947461"/>
            <a:ext cx="10873703" cy="147732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4. Selection Bias: we are only considering NBA players. Why might someone get into the NBA? The number of hoops they shoot – we’ve artificially sliced the data</a:t>
            </a:r>
          </a:p>
        </p:txBody>
      </p:sp>
      <p:cxnSp>
        <p:nvCxnSpPr>
          <p:cNvPr id="3" name="Straight Arrow Connector 2">
            <a:extLst>
              <a:ext uri="{FF2B5EF4-FFF2-40B4-BE49-F238E27FC236}">
                <a16:creationId xmlns:a16="http://schemas.microsoft.com/office/drawing/2014/main" id="{D19C8963-C0D2-2385-9061-A4EAD760F196}"/>
              </a:ext>
            </a:extLst>
          </p:cNvPr>
          <p:cNvCxnSpPr>
            <a:cxnSpLocks/>
          </p:cNvCxnSpPr>
          <p:nvPr/>
        </p:nvCxnSpPr>
        <p:spPr>
          <a:xfrm flipV="1">
            <a:off x="3739487" y="3248166"/>
            <a:ext cx="0" cy="2917387"/>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E65A20AE-D9D5-3499-10B0-E40927B10232}"/>
              </a:ext>
            </a:extLst>
          </p:cNvPr>
          <p:cNvCxnSpPr>
            <a:cxnSpLocks/>
          </p:cNvCxnSpPr>
          <p:nvPr/>
        </p:nvCxnSpPr>
        <p:spPr>
          <a:xfrm>
            <a:off x="3739487" y="6165553"/>
            <a:ext cx="3296934"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014D5C95-D990-60B8-5BE4-50E36DFC45AC}"/>
              </a:ext>
            </a:extLst>
          </p:cNvPr>
          <p:cNvSpPr txBox="1"/>
          <p:nvPr/>
        </p:nvSpPr>
        <p:spPr>
          <a:xfrm>
            <a:off x="5064880" y="6242600"/>
            <a:ext cx="1772648" cy="400110"/>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Height</a:t>
            </a:r>
          </a:p>
        </p:txBody>
      </p:sp>
      <p:sp>
        <p:nvSpPr>
          <p:cNvPr id="9" name="Oval 8">
            <a:extLst>
              <a:ext uri="{FF2B5EF4-FFF2-40B4-BE49-F238E27FC236}">
                <a16:creationId xmlns:a16="http://schemas.microsoft.com/office/drawing/2014/main" id="{3B78CA58-FA30-97FB-A6C6-AC2110514781}"/>
              </a:ext>
            </a:extLst>
          </p:cNvPr>
          <p:cNvSpPr/>
          <p:nvPr/>
        </p:nvSpPr>
        <p:spPr>
          <a:xfrm>
            <a:off x="5090017" y="3931780"/>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092F267-839E-D8DD-106B-BB430F079E00}"/>
              </a:ext>
            </a:extLst>
          </p:cNvPr>
          <p:cNvSpPr/>
          <p:nvPr/>
        </p:nvSpPr>
        <p:spPr>
          <a:xfrm>
            <a:off x="5362375" y="3496901"/>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AE846C5-04E0-7155-07E8-31FC0FF85D86}"/>
              </a:ext>
            </a:extLst>
          </p:cNvPr>
          <p:cNvSpPr/>
          <p:nvPr/>
        </p:nvSpPr>
        <p:spPr>
          <a:xfrm>
            <a:off x="6159750" y="3959729"/>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031F6CBD-2519-1216-7CA2-F2B73781D4E9}"/>
              </a:ext>
            </a:extLst>
          </p:cNvPr>
          <p:cNvSpPr txBox="1"/>
          <p:nvPr/>
        </p:nvSpPr>
        <p:spPr>
          <a:xfrm rot="16200000">
            <a:off x="2283012" y="4225006"/>
            <a:ext cx="1772648" cy="707886"/>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Avg Hoops per Game</a:t>
            </a:r>
          </a:p>
        </p:txBody>
      </p:sp>
      <p:sp>
        <p:nvSpPr>
          <p:cNvPr id="29" name="Oval 28">
            <a:extLst>
              <a:ext uri="{FF2B5EF4-FFF2-40B4-BE49-F238E27FC236}">
                <a16:creationId xmlns:a16="http://schemas.microsoft.com/office/drawing/2014/main" id="{EF6E616D-1ECF-AAE1-DBBD-F7DF6C37D2F0}"/>
              </a:ext>
            </a:extLst>
          </p:cNvPr>
          <p:cNvSpPr/>
          <p:nvPr/>
        </p:nvSpPr>
        <p:spPr>
          <a:xfrm>
            <a:off x="5539990" y="3747548"/>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8631E89D-96DB-FFE9-D0B6-97D74E4DF660}"/>
              </a:ext>
            </a:extLst>
          </p:cNvPr>
          <p:cNvSpPr/>
          <p:nvPr/>
        </p:nvSpPr>
        <p:spPr>
          <a:xfrm>
            <a:off x="4354656" y="3463069"/>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CCCE168B-9D08-321F-DA0E-559390ECC7F3}"/>
              </a:ext>
            </a:extLst>
          </p:cNvPr>
          <p:cNvSpPr/>
          <p:nvPr/>
        </p:nvSpPr>
        <p:spPr>
          <a:xfrm>
            <a:off x="5810922" y="3666269"/>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A3BAD293-52D4-0398-7DE0-F6838D46AA44}"/>
              </a:ext>
            </a:extLst>
          </p:cNvPr>
          <p:cNvSpPr/>
          <p:nvPr/>
        </p:nvSpPr>
        <p:spPr>
          <a:xfrm>
            <a:off x="6437456" y="3425816"/>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24DCF10-CE64-7A8F-3DC1-31C2E17E55D0}"/>
              </a:ext>
            </a:extLst>
          </p:cNvPr>
          <p:cNvSpPr/>
          <p:nvPr/>
        </p:nvSpPr>
        <p:spPr>
          <a:xfrm>
            <a:off x="4761056" y="3923656"/>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95095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851E6-B60A-CB20-0F3E-8AD12D69F47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724D06-4F60-3670-4B9D-B05EE35A3A1F}"/>
              </a:ext>
            </a:extLst>
          </p:cNvPr>
          <p:cNvSpPr txBox="1"/>
          <p:nvPr/>
        </p:nvSpPr>
        <p:spPr>
          <a:xfrm>
            <a:off x="695666" y="947461"/>
            <a:ext cx="10873703" cy="147732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4. Selection Bias: we are only considering NBA players. Why might someone get into the NBA? The number of hoops they shoot – we’ve artificially sliced the data</a:t>
            </a:r>
          </a:p>
        </p:txBody>
      </p:sp>
      <p:cxnSp>
        <p:nvCxnSpPr>
          <p:cNvPr id="3" name="Straight Arrow Connector 2">
            <a:extLst>
              <a:ext uri="{FF2B5EF4-FFF2-40B4-BE49-F238E27FC236}">
                <a16:creationId xmlns:a16="http://schemas.microsoft.com/office/drawing/2014/main" id="{E2172AE5-AEB0-DD82-0610-19EA4F45B213}"/>
              </a:ext>
            </a:extLst>
          </p:cNvPr>
          <p:cNvCxnSpPr>
            <a:cxnSpLocks/>
          </p:cNvCxnSpPr>
          <p:nvPr/>
        </p:nvCxnSpPr>
        <p:spPr>
          <a:xfrm flipV="1">
            <a:off x="3739487" y="3248166"/>
            <a:ext cx="0" cy="2917387"/>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C6EE2148-35E4-41CA-A2BF-75C22AE480A5}"/>
              </a:ext>
            </a:extLst>
          </p:cNvPr>
          <p:cNvCxnSpPr>
            <a:cxnSpLocks/>
          </p:cNvCxnSpPr>
          <p:nvPr/>
        </p:nvCxnSpPr>
        <p:spPr>
          <a:xfrm>
            <a:off x="3739487" y="6165553"/>
            <a:ext cx="3296934" cy="0"/>
          </a:xfrm>
          <a:prstGeom prst="straightConnector1">
            <a:avLst/>
          </a:prstGeom>
          <a:ln>
            <a:solidFill>
              <a:srgbClr val="BF9001"/>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1F952DAA-F1DD-E5EC-E616-6D3F60B91EDD}"/>
              </a:ext>
            </a:extLst>
          </p:cNvPr>
          <p:cNvSpPr txBox="1"/>
          <p:nvPr/>
        </p:nvSpPr>
        <p:spPr>
          <a:xfrm>
            <a:off x="5064880" y="6242600"/>
            <a:ext cx="1772648" cy="400110"/>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Height</a:t>
            </a:r>
          </a:p>
        </p:txBody>
      </p:sp>
      <p:sp>
        <p:nvSpPr>
          <p:cNvPr id="7" name="Oval 6">
            <a:extLst>
              <a:ext uri="{FF2B5EF4-FFF2-40B4-BE49-F238E27FC236}">
                <a16:creationId xmlns:a16="http://schemas.microsoft.com/office/drawing/2014/main" id="{ABAA80C9-73AD-DDA1-3746-C2A5EE9C55F1}"/>
              </a:ext>
            </a:extLst>
          </p:cNvPr>
          <p:cNvSpPr/>
          <p:nvPr/>
        </p:nvSpPr>
        <p:spPr>
          <a:xfrm>
            <a:off x="5730369" y="4551076"/>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FA60155-9D32-1B59-553B-B4CCABA3DF83}"/>
              </a:ext>
            </a:extLst>
          </p:cNvPr>
          <p:cNvSpPr/>
          <p:nvPr/>
        </p:nvSpPr>
        <p:spPr>
          <a:xfrm>
            <a:off x="5090017" y="3931780"/>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CB5683A-17D2-2705-C107-3DDAEC90A064}"/>
              </a:ext>
            </a:extLst>
          </p:cNvPr>
          <p:cNvSpPr/>
          <p:nvPr/>
        </p:nvSpPr>
        <p:spPr>
          <a:xfrm>
            <a:off x="5362375" y="3496901"/>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DA92609-6F2C-31B2-DF18-6A5A2BFEA4AB}"/>
              </a:ext>
            </a:extLst>
          </p:cNvPr>
          <p:cNvSpPr/>
          <p:nvPr/>
        </p:nvSpPr>
        <p:spPr>
          <a:xfrm>
            <a:off x="5687159" y="4020057"/>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6FB7C0B-F6DA-8BE5-4892-7274C97153F1}"/>
              </a:ext>
            </a:extLst>
          </p:cNvPr>
          <p:cNvSpPr/>
          <p:nvPr/>
        </p:nvSpPr>
        <p:spPr>
          <a:xfrm>
            <a:off x="6264262" y="4184903"/>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1300692-959E-4911-EC70-369F545B3E9C}"/>
              </a:ext>
            </a:extLst>
          </p:cNvPr>
          <p:cNvSpPr/>
          <p:nvPr/>
        </p:nvSpPr>
        <p:spPr>
          <a:xfrm>
            <a:off x="5131805" y="4474413"/>
            <a:ext cx="129492" cy="129492"/>
          </a:xfrm>
          <a:prstGeom prst="ellipse">
            <a:avLst/>
          </a:prstGeom>
          <a:solidFill>
            <a:srgbClr val="265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C550FC7-E7A1-CF35-7CE7-1A558002D328}"/>
              </a:ext>
            </a:extLst>
          </p:cNvPr>
          <p:cNvSpPr/>
          <p:nvPr/>
        </p:nvSpPr>
        <p:spPr>
          <a:xfrm>
            <a:off x="4078524" y="5631738"/>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26FF485-F786-6321-BC88-8D349B21CE86}"/>
              </a:ext>
            </a:extLst>
          </p:cNvPr>
          <p:cNvSpPr/>
          <p:nvPr/>
        </p:nvSpPr>
        <p:spPr>
          <a:xfrm>
            <a:off x="4573642" y="4484137"/>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E335117-B280-E757-5F5B-835C00F86BE8}"/>
              </a:ext>
            </a:extLst>
          </p:cNvPr>
          <p:cNvSpPr/>
          <p:nvPr/>
        </p:nvSpPr>
        <p:spPr>
          <a:xfrm>
            <a:off x="5085129" y="5053968"/>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A8C3C12-D2D3-AB2E-1387-335F1F49B746}"/>
              </a:ext>
            </a:extLst>
          </p:cNvPr>
          <p:cNvSpPr/>
          <p:nvPr/>
        </p:nvSpPr>
        <p:spPr>
          <a:xfrm>
            <a:off x="4123299" y="4909957"/>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317174D-2E3E-FE19-0A7F-0F1FCF909BAE}"/>
              </a:ext>
            </a:extLst>
          </p:cNvPr>
          <p:cNvSpPr/>
          <p:nvPr/>
        </p:nvSpPr>
        <p:spPr>
          <a:xfrm>
            <a:off x="4754225" y="5487378"/>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5E1E789F-2D98-3BA4-C9EB-A36E4DC4B14B}"/>
              </a:ext>
            </a:extLst>
          </p:cNvPr>
          <p:cNvSpPr/>
          <p:nvPr/>
        </p:nvSpPr>
        <p:spPr>
          <a:xfrm>
            <a:off x="4250376" y="4374896"/>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47FF3F0-067A-4473-7FB5-64401CE73DE9}"/>
              </a:ext>
            </a:extLst>
          </p:cNvPr>
          <p:cNvSpPr/>
          <p:nvPr/>
        </p:nvSpPr>
        <p:spPr>
          <a:xfrm>
            <a:off x="4658955" y="4991893"/>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533F6638-6AE9-E434-C6B7-6AFEE2B87DCF}"/>
              </a:ext>
            </a:extLst>
          </p:cNvPr>
          <p:cNvSpPr txBox="1"/>
          <p:nvPr/>
        </p:nvSpPr>
        <p:spPr>
          <a:xfrm rot="16200000">
            <a:off x="2283012" y="4225006"/>
            <a:ext cx="1772648" cy="707886"/>
          </a:xfrm>
          <a:prstGeom prst="rect">
            <a:avLst/>
          </a:prstGeom>
          <a:noFill/>
        </p:spPr>
        <p:txBody>
          <a:bodyPr wrap="square">
            <a:spAutoFit/>
          </a:bodyPr>
          <a:lstStyle/>
          <a:p>
            <a:r>
              <a:rPr lang="en-US" sz="2000" b="1" dirty="0">
                <a:solidFill>
                  <a:schemeClr val="accent6">
                    <a:lumMod val="50000"/>
                  </a:schemeClr>
                </a:solidFill>
                <a:latin typeface="Avenir Black" panose="02000503020000020003" pitchFamily="2" charset="0"/>
              </a:rPr>
              <a:t>Avg Hoops per Game</a:t>
            </a:r>
          </a:p>
        </p:txBody>
      </p:sp>
      <p:sp>
        <p:nvSpPr>
          <p:cNvPr id="29" name="Oval 28">
            <a:extLst>
              <a:ext uri="{FF2B5EF4-FFF2-40B4-BE49-F238E27FC236}">
                <a16:creationId xmlns:a16="http://schemas.microsoft.com/office/drawing/2014/main" id="{90A6CC09-315E-1A8C-832A-6A91D54EF798}"/>
              </a:ext>
            </a:extLst>
          </p:cNvPr>
          <p:cNvSpPr/>
          <p:nvPr/>
        </p:nvSpPr>
        <p:spPr>
          <a:xfrm>
            <a:off x="5539990" y="3747548"/>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EB25072-FC05-592B-8D7E-7ADA480205B7}"/>
              </a:ext>
            </a:extLst>
          </p:cNvPr>
          <p:cNvSpPr/>
          <p:nvPr/>
        </p:nvSpPr>
        <p:spPr>
          <a:xfrm>
            <a:off x="5340176" y="4258935"/>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EC66D142-A34D-059D-F915-3ADD604FECC3}"/>
              </a:ext>
            </a:extLst>
          </p:cNvPr>
          <p:cNvSpPr/>
          <p:nvPr/>
        </p:nvSpPr>
        <p:spPr>
          <a:xfrm>
            <a:off x="6149589" y="3910109"/>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0209CE69-1EE0-18EA-380D-AB1FC13256EB}"/>
              </a:ext>
            </a:extLst>
          </p:cNvPr>
          <p:cNvSpPr/>
          <p:nvPr/>
        </p:nvSpPr>
        <p:spPr>
          <a:xfrm>
            <a:off x="5407909" y="4726296"/>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E99A021-1294-3EF1-51B8-44DF5A2083AD}"/>
              </a:ext>
            </a:extLst>
          </p:cNvPr>
          <p:cNvSpPr/>
          <p:nvPr/>
        </p:nvSpPr>
        <p:spPr>
          <a:xfrm>
            <a:off x="4354656" y="3463069"/>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D90BE5DA-8AE8-7F05-19DD-8414F8FCD570}"/>
              </a:ext>
            </a:extLst>
          </p:cNvPr>
          <p:cNvSpPr/>
          <p:nvPr/>
        </p:nvSpPr>
        <p:spPr>
          <a:xfrm>
            <a:off x="4798309" y="5816802"/>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1A9475C0-E43A-2683-B052-E5F0249D3950}"/>
              </a:ext>
            </a:extLst>
          </p:cNvPr>
          <p:cNvSpPr/>
          <p:nvPr/>
        </p:nvSpPr>
        <p:spPr>
          <a:xfrm>
            <a:off x="5810922" y="3666269"/>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969A2D2-B5B3-C41B-9108-6F8015CCF25F}"/>
              </a:ext>
            </a:extLst>
          </p:cNvPr>
          <p:cNvSpPr/>
          <p:nvPr/>
        </p:nvSpPr>
        <p:spPr>
          <a:xfrm>
            <a:off x="6437456" y="3425816"/>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8FCA8383-955F-487D-CA5D-3C2372533A37}"/>
              </a:ext>
            </a:extLst>
          </p:cNvPr>
          <p:cNvSpPr/>
          <p:nvPr/>
        </p:nvSpPr>
        <p:spPr>
          <a:xfrm>
            <a:off x="4761056" y="3923656"/>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428308A-7CBE-0570-B03F-AB730EF122B8}"/>
              </a:ext>
            </a:extLst>
          </p:cNvPr>
          <p:cNvSpPr/>
          <p:nvPr/>
        </p:nvSpPr>
        <p:spPr>
          <a:xfrm>
            <a:off x="4364816" y="4665336"/>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A74B5CD0-7ECA-B05E-AFD9-4294547C5D15}"/>
              </a:ext>
            </a:extLst>
          </p:cNvPr>
          <p:cNvSpPr/>
          <p:nvPr/>
        </p:nvSpPr>
        <p:spPr>
          <a:xfrm>
            <a:off x="4673003" y="4783869"/>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459219DB-EDEF-8B74-01B6-6F9D6ABD2283}"/>
              </a:ext>
            </a:extLst>
          </p:cNvPr>
          <p:cNvSpPr/>
          <p:nvPr/>
        </p:nvSpPr>
        <p:spPr>
          <a:xfrm>
            <a:off x="4459643" y="5017549"/>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75B60811-F8B7-DAC5-F1AD-B9713C9B8667}"/>
              </a:ext>
            </a:extLst>
          </p:cNvPr>
          <p:cNvSpPr/>
          <p:nvPr/>
        </p:nvSpPr>
        <p:spPr>
          <a:xfrm>
            <a:off x="4938765" y="4857107"/>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1043854-6E02-E1C2-D96C-C6DA24865EDA}"/>
              </a:ext>
            </a:extLst>
          </p:cNvPr>
          <p:cNvSpPr/>
          <p:nvPr/>
        </p:nvSpPr>
        <p:spPr>
          <a:xfrm>
            <a:off x="3885484" y="6014432"/>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FD98B9C-5A42-4189-A994-8DB194813D73}"/>
              </a:ext>
            </a:extLst>
          </p:cNvPr>
          <p:cNvSpPr/>
          <p:nvPr/>
        </p:nvSpPr>
        <p:spPr>
          <a:xfrm>
            <a:off x="4380602" y="4866831"/>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128E96F-CB77-1E75-2458-99C2A9799DE0}"/>
              </a:ext>
            </a:extLst>
          </p:cNvPr>
          <p:cNvSpPr/>
          <p:nvPr/>
        </p:nvSpPr>
        <p:spPr>
          <a:xfrm>
            <a:off x="4892089" y="5436662"/>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E8C446DB-0D82-CC70-B75C-0E344A17140C}"/>
              </a:ext>
            </a:extLst>
          </p:cNvPr>
          <p:cNvSpPr/>
          <p:nvPr/>
        </p:nvSpPr>
        <p:spPr>
          <a:xfrm>
            <a:off x="3930259" y="5292651"/>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313ABB08-1F32-B4D5-D6A6-A5E75AAFBBA8}"/>
              </a:ext>
            </a:extLst>
          </p:cNvPr>
          <p:cNvSpPr/>
          <p:nvPr/>
        </p:nvSpPr>
        <p:spPr>
          <a:xfrm>
            <a:off x="4561185" y="5870072"/>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7DD2FD58-BF7F-A87C-6DFD-E7676CD6CD81}"/>
              </a:ext>
            </a:extLst>
          </p:cNvPr>
          <p:cNvSpPr/>
          <p:nvPr/>
        </p:nvSpPr>
        <p:spPr>
          <a:xfrm>
            <a:off x="4465915" y="5374587"/>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02959B47-984D-FCE1-F072-78FC85129C29}"/>
              </a:ext>
            </a:extLst>
          </p:cNvPr>
          <p:cNvSpPr/>
          <p:nvPr/>
        </p:nvSpPr>
        <p:spPr>
          <a:xfrm>
            <a:off x="5214869" y="5108990"/>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1F29BE59-BB49-F57B-C336-D2C7CB9DE36E}"/>
              </a:ext>
            </a:extLst>
          </p:cNvPr>
          <p:cNvSpPr/>
          <p:nvPr/>
        </p:nvSpPr>
        <p:spPr>
          <a:xfrm>
            <a:off x="4171776" y="5048030"/>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3055EDC2-F035-6815-6C5B-D5D005A9AD2B}"/>
              </a:ext>
            </a:extLst>
          </p:cNvPr>
          <p:cNvSpPr/>
          <p:nvPr/>
        </p:nvSpPr>
        <p:spPr>
          <a:xfrm>
            <a:off x="4479963" y="5166563"/>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795F147B-E482-52E0-CDE3-8719F3F98D95}"/>
              </a:ext>
            </a:extLst>
          </p:cNvPr>
          <p:cNvSpPr/>
          <p:nvPr/>
        </p:nvSpPr>
        <p:spPr>
          <a:xfrm>
            <a:off x="4266603" y="5400243"/>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B4BC8B38-9E23-9219-81ED-7203A6247E3F}"/>
              </a:ext>
            </a:extLst>
          </p:cNvPr>
          <p:cNvSpPr/>
          <p:nvPr/>
        </p:nvSpPr>
        <p:spPr>
          <a:xfrm>
            <a:off x="5660125" y="4196707"/>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055E649C-C608-2D99-4710-064136EA0284}"/>
              </a:ext>
            </a:extLst>
          </p:cNvPr>
          <p:cNvSpPr/>
          <p:nvPr/>
        </p:nvSpPr>
        <p:spPr>
          <a:xfrm>
            <a:off x="4606844" y="5354032"/>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D733CA64-7984-57D4-9602-5CB414E3292E}"/>
              </a:ext>
            </a:extLst>
          </p:cNvPr>
          <p:cNvSpPr/>
          <p:nvPr/>
        </p:nvSpPr>
        <p:spPr>
          <a:xfrm>
            <a:off x="5101962" y="4206431"/>
            <a:ext cx="129492" cy="12949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858693E6-7D5D-358B-E8AF-5D45CAEB2107}"/>
              </a:ext>
            </a:extLst>
          </p:cNvPr>
          <p:cNvSpPr/>
          <p:nvPr/>
        </p:nvSpPr>
        <p:spPr>
          <a:xfrm>
            <a:off x="5613449" y="4776262"/>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F4227496-AF62-AD0A-F3E5-0DE2F60B757D}"/>
              </a:ext>
            </a:extLst>
          </p:cNvPr>
          <p:cNvSpPr/>
          <p:nvPr/>
        </p:nvSpPr>
        <p:spPr>
          <a:xfrm>
            <a:off x="4651619" y="4632251"/>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B85DDD62-9603-4B55-15D2-0BBCD71B43E1}"/>
              </a:ext>
            </a:extLst>
          </p:cNvPr>
          <p:cNvSpPr/>
          <p:nvPr/>
        </p:nvSpPr>
        <p:spPr>
          <a:xfrm>
            <a:off x="5282545" y="5209672"/>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F2A6E072-BF39-7839-CCF1-07CC0A04ABCE}"/>
              </a:ext>
            </a:extLst>
          </p:cNvPr>
          <p:cNvSpPr/>
          <p:nvPr/>
        </p:nvSpPr>
        <p:spPr>
          <a:xfrm>
            <a:off x="5187275" y="4714187"/>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C8060969-1BD8-32A7-292F-844DF70FEE4F}"/>
              </a:ext>
            </a:extLst>
          </p:cNvPr>
          <p:cNvSpPr/>
          <p:nvPr/>
        </p:nvSpPr>
        <p:spPr>
          <a:xfrm>
            <a:off x="5936229" y="4448590"/>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5FF5BA7C-CBF7-3990-2A02-0FC30AF1A1C3}"/>
              </a:ext>
            </a:extLst>
          </p:cNvPr>
          <p:cNvSpPr/>
          <p:nvPr/>
        </p:nvSpPr>
        <p:spPr>
          <a:xfrm>
            <a:off x="5326629" y="5539096"/>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C9907F79-1D22-221F-FD81-5E141FFEF78F}"/>
              </a:ext>
            </a:extLst>
          </p:cNvPr>
          <p:cNvSpPr/>
          <p:nvPr/>
        </p:nvSpPr>
        <p:spPr>
          <a:xfrm>
            <a:off x="4893136" y="4387630"/>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913958FE-FB72-444B-EEA1-E2AA99256F2A}"/>
              </a:ext>
            </a:extLst>
          </p:cNvPr>
          <p:cNvSpPr/>
          <p:nvPr/>
        </p:nvSpPr>
        <p:spPr>
          <a:xfrm>
            <a:off x="5201323" y="4506163"/>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FD44257F-5234-4AB5-9E26-4CA7957BCB4A}"/>
              </a:ext>
            </a:extLst>
          </p:cNvPr>
          <p:cNvSpPr/>
          <p:nvPr/>
        </p:nvSpPr>
        <p:spPr>
          <a:xfrm>
            <a:off x="4987963" y="4739843"/>
            <a:ext cx="129492" cy="12949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0491F8C-E528-72A9-3FDE-3B83E4D12418}"/>
              </a:ext>
            </a:extLst>
          </p:cNvPr>
          <p:cNvSpPr/>
          <p:nvPr/>
        </p:nvSpPr>
        <p:spPr>
          <a:xfrm>
            <a:off x="6159750" y="4039241"/>
            <a:ext cx="129492" cy="129492"/>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64391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DCBB2-46D6-E357-3A41-DAAF3BC82B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3D01C3-92EC-6DD8-B475-E024123BBC59}"/>
              </a:ext>
            </a:extLst>
          </p:cNvPr>
          <p:cNvSpPr txBox="1"/>
          <p:nvPr/>
        </p:nvSpPr>
        <p:spPr>
          <a:xfrm>
            <a:off x="695666" y="947461"/>
            <a:ext cx="10873703" cy="193899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5. Confounder: Fishing pressure is the obvious confounder. It makes no sense that more fish can come from less habitat, unless fishing was SO intense in the early years that it kept fish numbers way below what the environment could support </a:t>
            </a:r>
          </a:p>
        </p:txBody>
      </p:sp>
    </p:spTree>
    <p:extLst>
      <p:ext uri="{BB962C8B-B14F-4D97-AF65-F5344CB8AC3E}">
        <p14:creationId xmlns:p14="http://schemas.microsoft.com/office/powerpoint/2010/main" val="11597239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4582C-6258-77EB-B5D3-8C839F493E4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EDE939-4ED3-CF4A-5F66-47CF2549D130}"/>
              </a:ext>
            </a:extLst>
          </p:cNvPr>
          <p:cNvSpPr txBox="1"/>
          <p:nvPr/>
        </p:nvSpPr>
        <p:spPr>
          <a:xfrm>
            <a:off x="695666" y="947461"/>
            <a:ext cx="10873703" cy="2400657"/>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6. Selection Bias: They were only considering planes that survived! This is ‘survivorship bias’. They need to consider where there </a:t>
            </a:r>
            <a:r>
              <a:rPr lang="en-US" sz="3000" i="1" dirty="0">
                <a:solidFill>
                  <a:schemeClr val="accent6">
                    <a:lumMod val="50000"/>
                  </a:schemeClr>
                </a:solidFill>
                <a:latin typeface="Avenir Book" panose="02000503020000020003" pitchFamily="2" charset="0"/>
              </a:rPr>
              <a:t>weren’t</a:t>
            </a:r>
            <a:r>
              <a:rPr lang="en-US" sz="3000" dirty="0">
                <a:solidFill>
                  <a:schemeClr val="accent6">
                    <a:lumMod val="50000"/>
                  </a:schemeClr>
                </a:solidFill>
                <a:latin typeface="Avenir Book" panose="02000503020000020003" pitchFamily="2" charset="0"/>
              </a:rPr>
              <a:t> bullet holes in the returning planes – this is the areas that are weak and clearly causing the others to crash </a:t>
            </a:r>
          </a:p>
        </p:txBody>
      </p:sp>
      <p:pic>
        <p:nvPicPr>
          <p:cNvPr id="37890" name="Picture 2" descr="WWII Bombers and Selection Bias in Data Science | by Ryan Rue | Medium">
            <a:extLst>
              <a:ext uri="{FF2B5EF4-FFF2-40B4-BE49-F238E27FC236}">
                <a16:creationId xmlns:a16="http://schemas.microsoft.com/office/drawing/2014/main" id="{5FEDD864-1858-7CB6-DF0F-014B214642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7102" y="3261571"/>
            <a:ext cx="4138052" cy="3094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14372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7192D-FBBA-C1DD-1E9B-C7A67B51D6E3}"/>
            </a:ext>
          </a:extLst>
        </p:cNvPr>
        <p:cNvGrpSpPr/>
        <p:nvPr/>
      </p:nvGrpSpPr>
      <p:grpSpPr>
        <a:xfrm>
          <a:off x="0" y="0"/>
          <a:ext cx="0" cy="0"/>
          <a:chOff x="0" y="0"/>
          <a:chExt cx="0" cy="0"/>
        </a:xfrm>
      </p:grpSpPr>
      <p:sp>
        <p:nvSpPr>
          <p:cNvPr id="68" name="TextBox 67">
            <a:extLst>
              <a:ext uri="{FF2B5EF4-FFF2-40B4-BE49-F238E27FC236}">
                <a16:creationId xmlns:a16="http://schemas.microsoft.com/office/drawing/2014/main" id="{2445B317-205F-1635-C1F7-D7B9E0095B7A}"/>
              </a:ext>
            </a:extLst>
          </p:cNvPr>
          <p:cNvSpPr txBox="1"/>
          <p:nvPr/>
        </p:nvSpPr>
        <p:spPr>
          <a:xfrm>
            <a:off x="1557758" y="3037546"/>
            <a:ext cx="11291363" cy="707886"/>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Correlation Does Not Equal Causation</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5752049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A8D16-9C67-A356-1A95-71BCF71439D3}"/>
            </a:ext>
          </a:extLst>
        </p:cNvPr>
        <p:cNvGrpSpPr/>
        <p:nvPr/>
      </p:nvGrpSpPr>
      <p:grpSpPr>
        <a:xfrm>
          <a:off x="0" y="0"/>
          <a:ext cx="0" cy="0"/>
          <a:chOff x="0" y="0"/>
          <a:chExt cx="0" cy="0"/>
        </a:xfrm>
      </p:grpSpPr>
      <p:sp>
        <p:nvSpPr>
          <p:cNvPr id="68" name="TextBox 67">
            <a:extLst>
              <a:ext uri="{FF2B5EF4-FFF2-40B4-BE49-F238E27FC236}">
                <a16:creationId xmlns:a16="http://schemas.microsoft.com/office/drawing/2014/main" id="{1A37B9A3-F3DF-7DAF-04ED-71EC0868346F}"/>
              </a:ext>
            </a:extLst>
          </p:cNvPr>
          <p:cNvSpPr txBox="1"/>
          <p:nvPr/>
        </p:nvSpPr>
        <p:spPr>
          <a:xfrm>
            <a:off x="1557758" y="3037546"/>
            <a:ext cx="11291363" cy="707886"/>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Correlation Does Not Equal Causation</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43F38CFD-DEE1-4A3E-DB22-C9DF3D44DBC1}"/>
              </a:ext>
            </a:extLst>
          </p:cNvPr>
          <p:cNvSpPr txBox="1"/>
          <p:nvPr/>
        </p:nvSpPr>
        <p:spPr>
          <a:xfrm>
            <a:off x="2014343" y="4998269"/>
            <a:ext cx="10873703"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Why not? Because we’re missing important factors</a:t>
            </a:r>
          </a:p>
        </p:txBody>
      </p:sp>
    </p:spTree>
    <p:extLst>
      <p:ext uri="{BB962C8B-B14F-4D97-AF65-F5344CB8AC3E}">
        <p14:creationId xmlns:p14="http://schemas.microsoft.com/office/powerpoint/2010/main" val="20461796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4B81A-2D52-0D86-D8B3-BA2CDFBDE1D0}"/>
            </a:ext>
          </a:extLst>
        </p:cNvPr>
        <p:cNvGrpSpPr/>
        <p:nvPr/>
      </p:nvGrpSpPr>
      <p:grpSpPr>
        <a:xfrm>
          <a:off x="0" y="0"/>
          <a:ext cx="0" cy="0"/>
          <a:chOff x="0" y="0"/>
          <a:chExt cx="0" cy="0"/>
        </a:xfrm>
      </p:grpSpPr>
      <p:sp>
        <p:nvSpPr>
          <p:cNvPr id="68" name="TextBox 67">
            <a:extLst>
              <a:ext uri="{FF2B5EF4-FFF2-40B4-BE49-F238E27FC236}">
                <a16:creationId xmlns:a16="http://schemas.microsoft.com/office/drawing/2014/main" id="{10C6EA41-4AAF-50CF-9BA8-EC8C563F4C4B}"/>
              </a:ext>
            </a:extLst>
          </p:cNvPr>
          <p:cNvSpPr txBox="1"/>
          <p:nvPr/>
        </p:nvSpPr>
        <p:spPr>
          <a:xfrm>
            <a:off x="1557758" y="3037546"/>
            <a:ext cx="11291363" cy="707886"/>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Correlation Does Not Equal Causation</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F09668CB-F4C7-8399-8175-CBB5459EE2BD}"/>
              </a:ext>
            </a:extLst>
          </p:cNvPr>
          <p:cNvSpPr txBox="1"/>
          <p:nvPr/>
        </p:nvSpPr>
        <p:spPr>
          <a:xfrm>
            <a:off x="1404743" y="5059229"/>
            <a:ext cx="10873703"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What’s normally the solution in Science to this problem?</a:t>
            </a:r>
          </a:p>
        </p:txBody>
      </p:sp>
    </p:spTree>
    <p:extLst>
      <p:ext uri="{BB962C8B-B14F-4D97-AF65-F5344CB8AC3E}">
        <p14:creationId xmlns:p14="http://schemas.microsoft.com/office/powerpoint/2010/main" val="20429967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8B889-C540-FF60-8698-78EBC3A306E6}"/>
            </a:ext>
          </a:extLst>
        </p:cNvPr>
        <p:cNvGrpSpPr/>
        <p:nvPr/>
      </p:nvGrpSpPr>
      <p:grpSpPr>
        <a:xfrm>
          <a:off x="0" y="0"/>
          <a:ext cx="0" cy="0"/>
          <a:chOff x="0" y="0"/>
          <a:chExt cx="0" cy="0"/>
        </a:xfrm>
      </p:grpSpPr>
      <p:sp>
        <p:nvSpPr>
          <p:cNvPr id="68" name="TextBox 67">
            <a:extLst>
              <a:ext uri="{FF2B5EF4-FFF2-40B4-BE49-F238E27FC236}">
                <a16:creationId xmlns:a16="http://schemas.microsoft.com/office/drawing/2014/main" id="{F4575598-E7D0-CC17-0FF4-F093FC5DE6BB}"/>
              </a:ext>
            </a:extLst>
          </p:cNvPr>
          <p:cNvSpPr txBox="1"/>
          <p:nvPr/>
        </p:nvSpPr>
        <p:spPr>
          <a:xfrm>
            <a:off x="1557758" y="3037546"/>
            <a:ext cx="11291363" cy="707886"/>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Correlation Does Not Equal Causation</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35FA85A3-453A-07CD-AA0D-F285B4A317D5}"/>
              </a:ext>
            </a:extLst>
          </p:cNvPr>
          <p:cNvSpPr txBox="1"/>
          <p:nvPr/>
        </p:nvSpPr>
        <p:spPr>
          <a:xfrm>
            <a:off x="3385943" y="4977949"/>
            <a:ext cx="10873703" cy="553998"/>
          </a:xfrm>
          <a:prstGeom prst="rect">
            <a:avLst/>
          </a:prstGeom>
          <a:noFill/>
        </p:spPr>
        <p:txBody>
          <a:bodyPr wrap="square">
            <a:spAutoFit/>
          </a:bodyPr>
          <a:lstStyle/>
          <a:p>
            <a:r>
              <a:rPr lang="en-US" sz="3000" dirty="0" err="1">
                <a:solidFill>
                  <a:schemeClr val="accent6">
                    <a:lumMod val="50000"/>
                  </a:schemeClr>
                </a:solidFill>
                <a:latin typeface="Avenir Book" panose="02000503020000020003" pitchFamily="2" charset="0"/>
              </a:rPr>
              <a:t>Randomised</a:t>
            </a:r>
            <a:r>
              <a:rPr lang="en-US" sz="3000" dirty="0">
                <a:solidFill>
                  <a:schemeClr val="accent6">
                    <a:lumMod val="50000"/>
                  </a:schemeClr>
                </a:solidFill>
                <a:latin typeface="Avenir Book" panose="02000503020000020003" pitchFamily="2" charset="0"/>
              </a:rPr>
              <a:t> Controlled Trial</a:t>
            </a:r>
          </a:p>
        </p:txBody>
      </p:sp>
    </p:spTree>
    <p:extLst>
      <p:ext uri="{BB962C8B-B14F-4D97-AF65-F5344CB8AC3E}">
        <p14:creationId xmlns:p14="http://schemas.microsoft.com/office/powerpoint/2010/main" val="12994565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15DE4-11D4-1CE2-4AAB-A96801645EA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F43807C-2C6B-0D37-17B3-1333FA12CF14}"/>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Trusting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FD46C230-02D6-7E2C-4EAD-3D029A06A421}"/>
              </a:ext>
            </a:extLst>
          </p:cNvPr>
          <p:cNvSpPr txBox="1"/>
          <p:nvPr/>
        </p:nvSpPr>
        <p:spPr>
          <a:xfrm>
            <a:off x="409063" y="1452429"/>
            <a:ext cx="10873703" cy="3785652"/>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What if we can’t do a randomized controlled trial?</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What if we have (or are collecting) observational data, but want to understand likely causal relationships anyway?</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How do we know which groups to control for, and which groups we *shouldn’t* select for?</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33422549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26C97-CA77-4555-0F8C-6135B4EB5A4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26F0F11-9E39-21E0-2F8E-5EA5899024A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Trusting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C371DA3C-929B-85BF-FA35-F64514AD3F30}"/>
              </a:ext>
            </a:extLst>
          </p:cNvPr>
          <p:cNvSpPr txBox="1"/>
          <p:nvPr/>
        </p:nvSpPr>
        <p:spPr>
          <a:xfrm>
            <a:off x="409063" y="1452429"/>
            <a:ext cx="10873703" cy="4708981"/>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What if we can’t do a randomized controlled trial?</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What if we have (or are collecting) observational data, but want to understand likely causal relationships anyway?</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How do we know which groups to control for, and which groups we *shouldn’t* select for?</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It </a:t>
            </a:r>
            <a:r>
              <a:rPr lang="en-US" sz="3000" dirty="0" err="1">
                <a:solidFill>
                  <a:schemeClr val="accent6">
                    <a:lumMod val="50000"/>
                  </a:schemeClr>
                </a:solidFill>
                <a:latin typeface="Avenir Book" panose="02000503020000020003" pitchFamily="2" charset="0"/>
              </a:rPr>
              <a:t>alllll</a:t>
            </a:r>
            <a:r>
              <a:rPr lang="en-US" sz="3000" dirty="0">
                <a:solidFill>
                  <a:schemeClr val="accent6">
                    <a:lumMod val="50000"/>
                  </a:schemeClr>
                </a:solidFill>
                <a:latin typeface="Avenir Book" panose="02000503020000020003" pitchFamily="2" charset="0"/>
              </a:rPr>
              <a:t> relies on your common sense, logic, and your knowledge of the system</a:t>
            </a:r>
          </a:p>
        </p:txBody>
      </p:sp>
    </p:spTree>
    <p:extLst>
      <p:ext uri="{BB962C8B-B14F-4D97-AF65-F5344CB8AC3E}">
        <p14:creationId xmlns:p14="http://schemas.microsoft.com/office/powerpoint/2010/main" val="24107893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B0F53-D151-0E5D-FE52-3066AFFBB8A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C53FC76-81B3-F6EF-AA3F-A9BE3198394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Causal Inference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AC5DDDB2-1C39-5470-0358-C58ED230EA9E}"/>
              </a:ext>
            </a:extLst>
          </p:cNvPr>
          <p:cNvSpPr txBox="1"/>
          <p:nvPr/>
        </p:nvSpPr>
        <p:spPr>
          <a:xfrm>
            <a:off x="409063" y="1706429"/>
            <a:ext cx="8389497" cy="4247317"/>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If correlation isn’t causation, what is?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Field emerged in part from the ‘Great Smoking Debate’</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Does smoking cause cancer? How do we test this?</a:t>
            </a:r>
          </a:p>
        </p:txBody>
      </p:sp>
      <p:pic>
        <p:nvPicPr>
          <p:cNvPr id="1028" name="Picture 4" descr="The Great Smoking Debate, The American Cancer Society vs. Mr. Butts · Yale  University Library Online Exhibitions">
            <a:extLst>
              <a:ext uri="{FF2B5EF4-FFF2-40B4-BE49-F238E27FC236}">
                <a16:creationId xmlns:a16="http://schemas.microsoft.com/office/drawing/2014/main" id="{9D61E4C4-08B2-D707-5EB5-88418ADC74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2571" y="487680"/>
            <a:ext cx="2354277" cy="5821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4005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C0D74-2B26-7ED9-4113-9033DF09ADC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8C1120D-E181-B3D2-0393-6E899AAF3D1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Causal Inference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pic>
        <p:nvPicPr>
          <p:cNvPr id="1026" name="Picture 2" descr="To Build Truly Intelligent Machines, Teach Them Cause and Effect | Quanta  Magazine">
            <a:extLst>
              <a:ext uri="{FF2B5EF4-FFF2-40B4-BE49-F238E27FC236}">
                <a16:creationId xmlns:a16="http://schemas.microsoft.com/office/drawing/2014/main" id="{61B16684-D116-D89E-74F1-7E649C857D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4039" y="477521"/>
            <a:ext cx="3673144" cy="23875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3DB621A-0C85-FE54-1D40-090DBEF2B0FA}"/>
              </a:ext>
            </a:extLst>
          </p:cNvPr>
          <p:cNvSpPr txBox="1"/>
          <p:nvPr/>
        </p:nvSpPr>
        <p:spPr>
          <a:xfrm>
            <a:off x="419224" y="2082349"/>
            <a:ext cx="6613344" cy="4247317"/>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Developed by Judea Pearl </a:t>
            </a:r>
            <a:r>
              <a:rPr lang="en-US" sz="3000" dirty="0">
                <a:solidFill>
                  <a:schemeClr val="accent6">
                    <a:lumMod val="50000"/>
                  </a:schemeClr>
                </a:solidFill>
                <a:latin typeface="Avenir Book" panose="02000503020000020003" pitchFamily="2" charset="0"/>
                <a:sym typeface="Wingdings" pitchFamily="2" charset="2"/>
              </a:rPr>
              <a:t></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sym typeface="Wingdings" pitchFamily="2" charset="2"/>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sym typeface="Wingdings" pitchFamily="2" charset="2"/>
              </a:rPr>
              <a:t>General idea: if you control for the right set of variables, you </a:t>
            </a:r>
            <a:r>
              <a:rPr lang="en-US" sz="3000" i="1" dirty="0">
                <a:solidFill>
                  <a:schemeClr val="accent6">
                    <a:lumMod val="50000"/>
                  </a:schemeClr>
                </a:solidFill>
                <a:latin typeface="Avenir Book" panose="02000503020000020003" pitchFamily="2" charset="0"/>
                <a:sym typeface="Wingdings" pitchFamily="2" charset="2"/>
              </a:rPr>
              <a:t>can</a:t>
            </a:r>
            <a:r>
              <a:rPr lang="en-US" sz="3000" dirty="0">
                <a:solidFill>
                  <a:schemeClr val="accent6">
                    <a:lumMod val="50000"/>
                  </a:schemeClr>
                </a:solidFill>
                <a:latin typeface="Avenir Book" panose="02000503020000020003" pitchFamily="2" charset="0"/>
                <a:sym typeface="Wingdings" pitchFamily="2" charset="2"/>
              </a:rPr>
              <a:t> make causal inferences from non-experimental data</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sym typeface="Wingdings" pitchFamily="2" charset="2"/>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sym typeface="Wingdings" pitchFamily="2" charset="2"/>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sym typeface="Wingdings" pitchFamily="2" charset="2"/>
            </a:endParaRPr>
          </a:p>
        </p:txBody>
      </p:sp>
    </p:spTree>
    <p:extLst>
      <p:ext uri="{BB962C8B-B14F-4D97-AF65-F5344CB8AC3E}">
        <p14:creationId xmlns:p14="http://schemas.microsoft.com/office/powerpoint/2010/main" val="18295599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43E97-41AF-62DF-38A7-EDF51F0153C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5BB4458-369B-8BD7-FF8B-0979410D9122}"/>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Causal Inference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0BF8559B-4F42-CD9A-ED4F-AC579EC2DECC}"/>
              </a:ext>
            </a:extLst>
          </p:cNvPr>
          <p:cNvSpPr txBox="1"/>
          <p:nvPr/>
        </p:nvSpPr>
        <p:spPr>
          <a:xfrm>
            <a:off x="419224" y="2082349"/>
            <a:ext cx="6613344" cy="5632311"/>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Developed by Judea Pearl </a:t>
            </a:r>
            <a:r>
              <a:rPr lang="en-US" sz="3000" dirty="0">
                <a:solidFill>
                  <a:schemeClr val="accent6">
                    <a:lumMod val="50000"/>
                  </a:schemeClr>
                </a:solidFill>
                <a:latin typeface="Avenir Book" panose="02000503020000020003" pitchFamily="2" charset="0"/>
                <a:sym typeface="Wingdings" pitchFamily="2" charset="2"/>
              </a:rPr>
              <a:t></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sym typeface="Wingdings" pitchFamily="2" charset="2"/>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sym typeface="Wingdings" pitchFamily="2" charset="2"/>
              </a:rPr>
              <a:t>General idea: if you control for the right set of variables, you </a:t>
            </a:r>
            <a:r>
              <a:rPr lang="en-US" sz="3000" i="1" dirty="0">
                <a:solidFill>
                  <a:schemeClr val="accent6">
                    <a:lumMod val="50000"/>
                  </a:schemeClr>
                </a:solidFill>
                <a:latin typeface="Avenir Book" panose="02000503020000020003" pitchFamily="2" charset="0"/>
                <a:sym typeface="Wingdings" pitchFamily="2" charset="2"/>
              </a:rPr>
              <a:t>can</a:t>
            </a:r>
            <a:r>
              <a:rPr lang="en-US" sz="3000" dirty="0">
                <a:solidFill>
                  <a:schemeClr val="accent6">
                    <a:lumMod val="50000"/>
                  </a:schemeClr>
                </a:solidFill>
                <a:latin typeface="Avenir Book" panose="02000503020000020003" pitchFamily="2" charset="0"/>
                <a:sym typeface="Wingdings" pitchFamily="2" charset="2"/>
              </a:rPr>
              <a:t> make causal inferences from non-experimental data</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sym typeface="Wingdings" pitchFamily="2" charset="2"/>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sym typeface="Wingdings" pitchFamily="2" charset="2"/>
              </a:rPr>
              <a:t>Relies on scientific reasoning and judgement to draw ‘causal diagrams’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sym typeface="Wingdings" pitchFamily="2" charset="2"/>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sym typeface="Wingdings" pitchFamily="2" charset="2"/>
            </a:endParaRPr>
          </a:p>
        </p:txBody>
      </p:sp>
      <p:pic>
        <p:nvPicPr>
          <p:cNvPr id="4" name="Picture 3">
            <a:extLst>
              <a:ext uri="{FF2B5EF4-FFF2-40B4-BE49-F238E27FC236}">
                <a16:creationId xmlns:a16="http://schemas.microsoft.com/office/drawing/2014/main" id="{01DEF182-6E53-96B7-74BF-EBE10D04B56B}"/>
              </a:ext>
            </a:extLst>
          </p:cNvPr>
          <p:cNvPicPr>
            <a:picLocks noChangeAspect="1"/>
          </p:cNvPicPr>
          <p:nvPr/>
        </p:nvPicPr>
        <p:blipFill>
          <a:blip r:embed="rId2"/>
          <a:srcRect l="573"/>
          <a:stretch>
            <a:fillRect/>
          </a:stretch>
        </p:blipFill>
        <p:spPr>
          <a:xfrm>
            <a:off x="7398327" y="2264553"/>
            <a:ext cx="4304922" cy="3205222"/>
          </a:xfrm>
          <a:prstGeom prst="rect">
            <a:avLst/>
          </a:prstGeom>
        </p:spPr>
      </p:pic>
    </p:spTree>
    <p:extLst>
      <p:ext uri="{BB962C8B-B14F-4D97-AF65-F5344CB8AC3E}">
        <p14:creationId xmlns:p14="http://schemas.microsoft.com/office/powerpoint/2010/main" val="11760154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184D6-CDF7-412F-A9C3-E674C922ADA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8CAF358-B05A-BAE2-C367-A0925BA21082}"/>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Causal Inference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D42CC066-12BF-6652-2D16-EBB6D4850CA8}"/>
              </a:ext>
            </a:extLst>
          </p:cNvPr>
          <p:cNvSpPr txBox="1"/>
          <p:nvPr/>
        </p:nvSpPr>
        <p:spPr>
          <a:xfrm>
            <a:off x="419224" y="2082349"/>
            <a:ext cx="6613344" cy="4016484"/>
          </a:xfrm>
          <a:prstGeom prst="rect">
            <a:avLst/>
          </a:prstGeom>
          <a:noFill/>
        </p:spPr>
        <p:txBody>
          <a:bodyPr wrap="square">
            <a:spAutoFit/>
          </a:bodyPr>
          <a:lstStyle/>
          <a:p>
            <a:r>
              <a:rPr lang="en-US" sz="3000" i="1" dirty="0">
                <a:solidFill>
                  <a:schemeClr val="accent6">
                    <a:lumMod val="50000"/>
                  </a:schemeClr>
                </a:solidFill>
                <a:latin typeface="Avenir Book" panose="02000503020000020003" pitchFamily="2" charset="0"/>
              </a:rPr>
              <a:t>“Two people who believe in two different causal diagrams can </a:t>
            </a:r>
            <a:r>
              <a:rPr lang="en-US" sz="3000" i="1" dirty="0" err="1">
                <a:solidFill>
                  <a:schemeClr val="accent6">
                    <a:lumMod val="50000"/>
                  </a:schemeClr>
                </a:solidFill>
                <a:latin typeface="Avenir Book" panose="02000503020000020003" pitchFamily="2" charset="0"/>
              </a:rPr>
              <a:t>analyse</a:t>
            </a:r>
            <a:r>
              <a:rPr lang="en-US" sz="3000" i="1" dirty="0">
                <a:solidFill>
                  <a:schemeClr val="accent6">
                    <a:lumMod val="50000"/>
                  </a:schemeClr>
                </a:solidFill>
                <a:latin typeface="Avenir Book" panose="02000503020000020003" pitchFamily="2" charset="0"/>
              </a:rPr>
              <a:t> the same data and never come to the same conclusion, regardless of how ‘big’ the data are. That is a terrifying prospect for advocates of scientific objectivity”</a:t>
            </a:r>
          </a:p>
          <a:p>
            <a:endParaRPr lang="en-US" sz="3000" i="1" dirty="0">
              <a:solidFill>
                <a:schemeClr val="accent6">
                  <a:lumMod val="50000"/>
                </a:schemeClr>
              </a:solidFill>
              <a:latin typeface="Avenir Book" panose="02000503020000020003" pitchFamily="2" charset="0"/>
              <a:sym typeface="Wingdings" pitchFamily="2" charset="2"/>
            </a:endParaRPr>
          </a:p>
          <a:p>
            <a:r>
              <a:rPr lang="en-US" sz="1500" dirty="0">
                <a:solidFill>
                  <a:schemeClr val="accent6">
                    <a:lumMod val="50000"/>
                  </a:schemeClr>
                </a:solidFill>
                <a:latin typeface="Avenir Book" panose="02000503020000020003" pitchFamily="2" charset="0"/>
                <a:sym typeface="Wingdings" pitchFamily="2" charset="2"/>
              </a:rPr>
              <a:t>Judea Pearl (‘The Book of Why’)</a:t>
            </a:r>
          </a:p>
        </p:txBody>
      </p:sp>
      <p:pic>
        <p:nvPicPr>
          <p:cNvPr id="4" name="Picture 3">
            <a:extLst>
              <a:ext uri="{FF2B5EF4-FFF2-40B4-BE49-F238E27FC236}">
                <a16:creationId xmlns:a16="http://schemas.microsoft.com/office/drawing/2014/main" id="{6FE2CA23-D125-E8E8-EDD2-93860D4CCCEE}"/>
              </a:ext>
            </a:extLst>
          </p:cNvPr>
          <p:cNvPicPr>
            <a:picLocks noChangeAspect="1"/>
          </p:cNvPicPr>
          <p:nvPr/>
        </p:nvPicPr>
        <p:blipFill>
          <a:blip r:embed="rId2"/>
          <a:srcRect l="573"/>
          <a:stretch>
            <a:fillRect/>
          </a:stretch>
        </p:blipFill>
        <p:spPr>
          <a:xfrm>
            <a:off x="7398327" y="2264553"/>
            <a:ext cx="4304922" cy="3205222"/>
          </a:xfrm>
          <a:prstGeom prst="rect">
            <a:avLst/>
          </a:prstGeom>
        </p:spPr>
      </p:pic>
    </p:spTree>
    <p:extLst>
      <p:ext uri="{BB962C8B-B14F-4D97-AF65-F5344CB8AC3E}">
        <p14:creationId xmlns:p14="http://schemas.microsoft.com/office/powerpoint/2010/main" val="15584989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F37D9-7D4B-AC89-7F52-E5A67622CDB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1996BFD-0DF8-5996-AEA9-26F619B1030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Causal Inference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pic>
        <p:nvPicPr>
          <p:cNvPr id="1026" name="Picture 2" descr="To Build Truly Intelligent Machines, Teach Them Cause and Effect | Quanta  Magazine">
            <a:extLst>
              <a:ext uri="{FF2B5EF4-FFF2-40B4-BE49-F238E27FC236}">
                <a16:creationId xmlns:a16="http://schemas.microsoft.com/office/drawing/2014/main" id="{06E91863-CDA3-B688-77D9-6BA3C7D3D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4039" y="477521"/>
            <a:ext cx="3673144" cy="238759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05C1D3B-4953-6729-E379-4F947F69A3D5}"/>
              </a:ext>
            </a:extLst>
          </p:cNvPr>
          <p:cNvSpPr txBox="1"/>
          <p:nvPr/>
        </p:nvSpPr>
        <p:spPr>
          <a:xfrm>
            <a:off x="419223" y="2082349"/>
            <a:ext cx="11285097" cy="3785652"/>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This has been developing since the 70s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But – exciting times in ecology – we’re only just cottoning on!</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(If you were studying psychology or social science you likely would’ve been taught this early on)</a:t>
            </a:r>
          </a:p>
        </p:txBody>
      </p:sp>
    </p:spTree>
    <p:extLst>
      <p:ext uri="{BB962C8B-B14F-4D97-AF65-F5344CB8AC3E}">
        <p14:creationId xmlns:p14="http://schemas.microsoft.com/office/powerpoint/2010/main" val="26728139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433C6-D293-A9D6-1B62-2FF4425E35E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26B7F88-C89E-0AE6-D9EE-19D8D265D47D}"/>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Causal Inference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D14F823F-B6BC-AABB-CCB9-D6AFC43E445A}"/>
              </a:ext>
            </a:extLst>
          </p:cNvPr>
          <p:cNvSpPr txBox="1"/>
          <p:nvPr/>
        </p:nvSpPr>
        <p:spPr>
          <a:xfrm>
            <a:off x="419223" y="2082349"/>
            <a:ext cx="6762973" cy="1015663"/>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If you want to learn more, this book is brilliant</a:t>
            </a:r>
          </a:p>
        </p:txBody>
      </p:sp>
      <p:pic>
        <p:nvPicPr>
          <p:cNvPr id="4098" name="Picture 2" descr="The Book of Why: The New Science of Cause and Effect (Penguin Science):  Amazon.co.uk: Pearl, Judea, Mackenzie, Dana: 9780141982410: Books">
            <a:extLst>
              <a:ext uri="{FF2B5EF4-FFF2-40B4-BE49-F238E27FC236}">
                <a16:creationId xmlns:a16="http://schemas.microsoft.com/office/drawing/2014/main" id="{966F3508-3DDE-3390-4A40-7C48B3B360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4733" y="565264"/>
            <a:ext cx="3668497" cy="5727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50328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8CE5B-F57F-BB2E-061B-9FC1CFA2120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05055A3-43AB-8D6E-CD47-15801EE4D563}"/>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Why should I care?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CC688C6C-9239-E1C6-468B-C5044E14D09C}"/>
              </a:ext>
            </a:extLst>
          </p:cNvPr>
          <p:cNvSpPr txBox="1"/>
          <p:nvPr/>
        </p:nvSpPr>
        <p:spPr>
          <a:xfrm>
            <a:off x="419223" y="2082349"/>
            <a:ext cx="10570202" cy="1015663"/>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You need to stay CRITICAL of any statistics you see. Even in top papers!  </a:t>
            </a:r>
          </a:p>
        </p:txBody>
      </p:sp>
    </p:spTree>
    <p:extLst>
      <p:ext uri="{BB962C8B-B14F-4D97-AF65-F5344CB8AC3E}">
        <p14:creationId xmlns:p14="http://schemas.microsoft.com/office/powerpoint/2010/main" val="35752175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10ED6-2F79-1674-833F-6D563BCABFE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0F3F44C-2CA5-99AE-C17D-07BD209725A7}"/>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Why should I care?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1956AE29-439D-9884-B6FA-A039983EA37C}"/>
              </a:ext>
            </a:extLst>
          </p:cNvPr>
          <p:cNvSpPr txBox="1"/>
          <p:nvPr/>
        </p:nvSpPr>
        <p:spPr>
          <a:xfrm>
            <a:off x="419223" y="2082349"/>
            <a:ext cx="10570202" cy="1015663"/>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You need to stay CRITICAL of any statistics you see. Even in top papers!  </a:t>
            </a:r>
          </a:p>
        </p:txBody>
      </p:sp>
      <p:pic>
        <p:nvPicPr>
          <p:cNvPr id="3" name="Picture 2">
            <a:extLst>
              <a:ext uri="{FF2B5EF4-FFF2-40B4-BE49-F238E27FC236}">
                <a16:creationId xmlns:a16="http://schemas.microsoft.com/office/drawing/2014/main" id="{4169DD22-1EB1-68F5-AC86-403DA460D5C2}"/>
              </a:ext>
            </a:extLst>
          </p:cNvPr>
          <p:cNvPicPr>
            <a:picLocks noChangeAspect="1"/>
          </p:cNvPicPr>
          <p:nvPr/>
        </p:nvPicPr>
        <p:blipFill>
          <a:blip r:embed="rId2"/>
          <a:stretch>
            <a:fillRect/>
          </a:stretch>
        </p:blipFill>
        <p:spPr>
          <a:xfrm>
            <a:off x="946266" y="3355407"/>
            <a:ext cx="4856018" cy="3115612"/>
          </a:xfrm>
          <a:prstGeom prst="rect">
            <a:avLst/>
          </a:prstGeom>
        </p:spPr>
      </p:pic>
    </p:spTree>
    <p:extLst>
      <p:ext uri="{BB962C8B-B14F-4D97-AF65-F5344CB8AC3E}">
        <p14:creationId xmlns:p14="http://schemas.microsoft.com/office/powerpoint/2010/main" val="39468953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20FF5-33ED-D32D-DC29-7E164F6EF45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B748EBF-8824-2FE4-8BE7-56C2726C4EE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Why should I care?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DB563F60-0E23-ED84-CC41-8DE95DD093F5}"/>
              </a:ext>
            </a:extLst>
          </p:cNvPr>
          <p:cNvSpPr txBox="1"/>
          <p:nvPr/>
        </p:nvSpPr>
        <p:spPr>
          <a:xfrm>
            <a:off x="419223" y="2082349"/>
            <a:ext cx="10570202" cy="1015663"/>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You need to stay CRITICAL of any statistics you see. Even in top papers!  </a:t>
            </a:r>
          </a:p>
        </p:txBody>
      </p:sp>
      <p:pic>
        <p:nvPicPr>
          <p:cNvPr id="3" name="Picture 2">
            <a:extLst>
              <a:ext uri="{FF2B5EF4-FFF2-40B4-BE49-F238E27FC236}">
                <a16:creationId xmlns:a16="http://schemas.microsoft.com/office/drawing/2014/main" id="{8978735D-5725-9DF8-ACD5-07F5B5706BE9}"/>
              </a:ext>
            </a:extLst>
          </p:cNvPr>
          <p:cNvPicPr>
            <a:picLocks noChangeAspect="1"/>
          </p:cNvPicPr>
          <p:nvPr/>
        </p:nvPicPr>
        <p:blipFill>
          <a:blip r:embed="rId2"/>
          <a:stretch>
            <a:fillRect/>
          </a:stretch>
        </p:blipFill>
        <p:spPr>
          <a:xfrm>
            <a:off x="946266" y="3355407"/>
            <a:ext cx="4856018" cy="3115612"/>
          </a:xfrm>
          <a:prstGeom prst="rect">
            <a:avLst/>
          </a:prstGeom>
        </p:spPr>
      </p:pic>
      <p:pic>
        <p:nvPicPr>
          <p:cNvPr id="4" name="Picture 3">
            <a:extLst>
              <a:ext uri="{FF2B5EF4-FFF2-40B4-BE49-F238E27FC236}">
                <a16:creationId xmlns:a16="http://schemas.microsoft.com/office/drawing/2014/main" id="{79F7F502-F4E6-C477-DBEB-BCBF22F88332}"/>
              </a:ext>
            </a:extLst>
          </p:cNvPr>
          <p:cNvPicPr>
            <a:picLocks noChangeAspect="1"/>
          </p:cNvPicPr>
          <p:nvPr/>
        </p:nvPicPr>
        <p:blipFill>
          <a:blip r:embed="rId3"/>
          <a:stretch>
            <a:fillRect/>
          </a:stretch>
        </p:blipFill>
        <p:spPr>
          <a:xfrm>
            <a:off x="6001789" y="3259598"/>
            <a:ext cx="5609705" cy="2860394"/>
          </a:xfrm>
          <a:prstGeom prst="rect">
            <a:avLst/>
          </a:prstGeom>
        </p:spPr>
      </p:pic>
    </p:spTree>
    <p:extLst>
      <p:ext uri="{BB962C8B-B14F-4D97-AF65-F5344CB8AC3E}">
        <p14:creationId xmlns:p14="http://schemas.microsoft.com/office/powerpoint/2010/main" val="15456460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B3329-9D7C-DE04-50B5-7C746FE2A27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ED18732-CAD8-C7F2-9A7E-DD5EDAAE36F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Why should I care?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C0778C1A-7045-7141-581B-38FC39FF408C}"/>
              </a:ext>
            </a:extLst>
          </p:cNvPr>
          <p:cNvSpPr txBox="1"/>
          <p:nvPr/>
        </p:nvSpPr>
        <p:spPr>
          <a:xfrm>
            <a:off x="419223" y="2082349"/>
            <a:ext cx="11678184" cy="4247317"/>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Be really careful when you run models, especially if you’re using lots of predictor variables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“p-hacking”</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a:t>
            </a:r>
            <a:r>
              <a:rPr lang="en-US" sz="3000" dirty="0" err="1">
                <a:solidFill>
                  <a:schemeClr val="accent6">
                    <a:lumMod val="50000"/>
                  </a:schemeClr>
                </a:solidFill>
                <a:latin typeface="Avenir Book" panose="02000503020000020003" pitchFamily="2" charset="0"/>
              </a:rPr>
              <a:t>Hypothesising</a:t>
            </a:r>
            <a:r>
              <a:rPr lang="en-US" sz="3000" dirty="0">
                <a:solidFill>
                  <a:schemeClr val="accent6">
                    <a:lumMod val="50000"/>
                  </a:schemeClr>
                </a:solidFill>
                <a:latin typeface="Avenir Book" panose="02000503020000020003" pitchFamily="2" charset="0"/>
              </a:rPr>
              <a:t> After Results are Known” (</a:t>
            </a:r>
            <a:r>
              <a:rPr lang="en-US" sz="3000" dirty="0" err="1">
                <a:solidFill>
                  <a:schemeClr val="accent6">
                    <a:lumMod val="50000"/>
                  </a:schemeClr>
                </a:solidFill>
                <a:latin typeface="Avenir Book" panose="02000503020000020003" pitchFamily="2" charset="0"/>
              </a:rPr>
              <a:t>HARKing</a:t>
            </a:r>
            <a:r>
              <a:rPr lang="en-US" sz="3000" dirty="0">
                <a:solidFill>
                  <a:schemeClr val="accent6">
                    <a:lumMod val="50000"/>
                  </a:schemeClr>
                </a:solidFill>
                <a:latin typeface="Avenir Book" panose="02000503020000020003" pitchFamily="2" charset="0"/>
              </a:rPr>
              <a:t>)</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5600044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4DE7-0813-04B7-F44A-792A0B7F91B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16F1072-7272-7368-544F-F9FACE6C5905}"/>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Why should I care?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53A19BD8-942D-0F8F-8CA4-9955DC350531}"/>
              </a:ext>
            </a:extLst>
          </p:cNvPr>
          <p:cNvSpPr txBox="1"/>
          <p:nvPr/>
        </p:nvSpPr>
        <p:spPr>
          <a:xfrm>
            <a:off x="419223" y="2082349"/>
            <a:ext cx="11933490" cy="4708981"/>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Be really careful when you run models, especially if you’re using lots of predictor variables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“p-hacking”</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a:t>
            </a:r>
            <a:r>
              <a:rPr lang="en-US" sz="3000" dirty="0" err="1">
                <a:solidFill>
                  <a:schemeClr val="accent6">
                    <a:lumMod val="50000"/>
                  </a:schemeClr>
                </a:solidFill>
                <a:latin typeface="Avenir Book" panose="02000503020000020003" pitchFamily="2" charset="0"/>
              </a:rPr>
              <a:t>Hypothesising</a:t>
            </a:r>
            <a:r>
              <a:rPr lang="en-US" sz="3000" dirty="0">
                <a:solidFill>
                  <a:schemeClr val="accent6">
                    <a:lumMod val="50000"/>
                  </a:schemeClr>
                </a:solidFill>
                <a:latin typeface="Avenir Book" panose="02000503020000020003" pitchFamily="2" charset="0"/>
              </a:rPr>
              <a:t> After Results are Known” (</a:t>
            </a:r>
            <a:r>
              <a:rPr lang="en-US" sz="3000" dirty="0" err="1">
                <a:solidFill>
                  <a:schemeClr val="accent6">
                    <a:lumMod val="50000"/>
                  </a:schemeClr>
                </a:solidFill>
                <a:latin typeface="Avenir Book" panose="02000503020000020003" pitchFamily="2" charset="0"/>
              </a:rPr>
              <a:t>HARKing</a:t>
            </a:r>
            <a:r>
              <a:rPr lang="en-US" sz="3000" dirty="0">
                <a:solidFill>
                  <a:schemeClr val="accent6">
                    <a:lumMod val="50000"/>
                  </a:schemeClr>
                </a:solidFill>
                <a:latin typeface="Avenir Book" panose="02000503020000020003" pitchFamily="2" charset="0"/>
              </a:rPr>
              <a:t>)</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Throwing a </a:t>
            </a:r>
            <a:r>
              <a:rPr lang="en-US" sz="3000" dirty="0" err="1">
                <a:solidFill>
                  <a:schemeClr val="accent6">
                    <a:lumMod val="50000"/>
                  </a:schemeClr>
                </a:solidFill>
                <a:latin typeface="Avenir Book" panose="02000503020000020003" pitchFamily="2" charset="0"/>
              </a:rPr>
              <a:t>tonne</a:t>
            </a:r>
            <a:r>
              <a:rPr lang="en-US" sz="3000" dirty="0">
                <a:solidFill>
                  <a:schemeClr val="accent6">
                    <a:lumMod val="50000"/>
                  </a:schemeClr>
                </a:solidFill>
                <a:latin typeface="Avenir Book" panose="02000503020000020003" pitchFamily="2" charset="0"/>
              </a:rPr>
              <a:t> of variables into a model can mean you accidentally make your model reveal relationships that aren’t real</a:t>
            </a:r>
          </a:p>
        </p:txBody>
      </p:sp>
    </p:spTree>
    <p:extLst>
      <p:ext uri="{BB962C8B-B14F-4D97-AF65-F5344CB8AC3E}">
        <p14:creationId xmlns:p14="http://schemas.microsoft.com/office/powerpoint/2010/main" val="14492107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9620C-CD99-F4C8-E658-59B13C013BB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4D8B671-ACEB-A7FB-7D79-99E992DD8BB2}"/>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 should I do</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68890AEE-E199-8FDD-9BF5-722F4AF8C652}"/>
              </a:ext>
            </a:extLst>
          </p:cNvPr>
          <p:cNvSpPr txBox="1"/>
          <p:nvPr/>
        </p:nvSpPr>
        <p:spPr>
          <a:xfrm>
            <a:off x="385972" y="1749840"/>
            <a:ext cx="11052341" cy="4708981"/>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Any time you’re doing a study that isn’t experimental:</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Define your question very clearly</a:t>
            </a: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Think very clearly about what variables could affect your conclusions</a:t>
            </a: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Think very clearly about which variables you include a model, and have clear reasons for why you think each is important</a:t>
            </a: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Do *not* just test a bunch of models and pick the one that gives you the result you like the most (and try not to even look at results until you’re decided on a final model!)</a:t>
            </a:r>
          </a:p>
        </p:txBody>
      </p:sp>
    </p:spTree>
    <p:extLst>
      <p:ext uri="{BB962C8B-B14F-4D97-AF65-F5344CB8AC3E}">
        <p14:creationId xmlns:p14="http://schemas.microsoft.com/office/powerpoint/2010/main" val="33695899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BD24A-CFB3-6317-D2DB-D61845B4694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44183DF-5782-5D7B-A33C-B13A95975E13}"/>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 should I do</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9918DD33-DCF0-15AF-7EC5-779F5B1E30BF}"/>
              </a:ext>
            </a:extLst>
          </p:cNvPr>
          <p:cNvSpPr txBox="1"/>
          <p:nvPr/>
        </p:nvSpPr>
        <p:spPr>
          <a:xfrm>
            <a:off x="1546166" y="1949345"/>
            <a:ext cx="9116291" cy="3323987"/>
          </a:xfrm>
          <a:prstGeom prst="rect">
            <a:avLst/>
          </a:prstGeom>
          <a:noFill/>
        </p:spPr>
        <p:txBody>
          <a:bodyPr wrap="square">
            <a:spAutoFit/>
          </a:bodyPr>
          <a:lstStyle/>
          <a:p>
            <a:pPr algn="ctr"/>
            <a:r>
              <a:rPr lang="en-US" sz="3000" dirty="0">
                <a:solidFill>
                  <a:schemeClr val="accent6">
                    <a:lumMod val="50000"/>
                  </a:schemeClr>
                </a:solidFill>
                <a:latin typeface="Avenir Book" panose="02000503020000020003" pitchFamily="2" charset="0"/>
              </a:rPr>
              <a:t>Be critical in your every-day life! Of stats on the news! ESPECIALLY if it tugs at your emotions – that switches your critical brain off and makes it way more likely you will fall prey to false claims</a:t>
            </a:r>
          </a:p>
          <a:p>
            <a:pPr algn="ctr"/>
            <a:endParaRPr lang="en-US" sz="3000" dirty="0">
              <a:solidFill>
                <a:schemeClr val="accent6">
                  <a:lumMod val="50000"/>
                </a:schemeClr>
              </a:solidFill>
              <a:latin typeface="Avenir Book" panose="02000503020000020003" pitchFamily="2" charset="0"/>
            </a:endParaRPr>
          </a:p>
          <a:p>
            <a:pPr algn="ctr"/>
            <a:r>
              <a:rPr lang="en-US" sz="3000" dirty="0">
                <a:solidFill>
                  <a:schemeClr val="accent6">
                    <a:lumMod val="50000"/>
                  </a:schemeClr>
                </a:solidFill>
                <a:latin typeface="Avenir Book" panose="02000503020000020003" pitchFamily="2" charset="0"/>
              </a:rPr>
              <a:t>Think “what is this stat missing” “which data is in the sample?” “are there potential biases?”</a:t>
            </a:r>
          </a:p>
        </p:txBody>
      </p:sp>
    </p:spTree>
    <p:extLst>
      <p:ext uri="{BB962C8B-B14F-4D97-AF65-F5344CB8AC3E}">
        <p14:creationId xmlns:p14="http://schemas.microsoft.com/office/powerpoint/2010/main" val="17373108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1B4AC-05B7-7C81-30E4-2906F355492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74BAC9-27A9-C9CC-D834-6C01809C1815}"/>
              </a:ext>
            </a:extLst>
          </p:cNvPr>
          <p:cNvSpPr txBox="1"/>
          <p:nvPr/>
        </p:nvSpPr>
        <p:spPr>
          <a:xfrm>
            <a:off x="4407463" y="2921168"/>
            <a:ext cx="3377073" cy="1015663"/>
          </a:xfrm>
          <a:prstGeom prst="rect">
            <a:avLst/>
          </a:prstGeom>
          <a:noFill/>
        </p:spPr>
        <p:txBody>
          <a:bodyPr wrap="square">
            <a:spAutoFit/>
          </a:bodyPr>
          <a:lstStyle/>
          <a:p>
            <a:pPr algn="ct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BREAK</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8005217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EA19F-B66B-6D33-112B-D4A80E3105A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95B5182-1428-6D5C-CA2F-4C67A963FEF6}"/>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Data Representativeness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9DD1D63B-C8EB-1740-C920-8C9B7442A171}"/>
              </a:ext>
            </a:extLst>
          </p:cNvPr>
          <p:cNvSpPr txBox="1"/>
          <p:nvPr/>
        </p:nvSpPr>
        <p:spPr>
          <a:xfrm>
            <a:off x="385972" y="1749840"/>
            <a:ext cx="11052341" cy="2862322"/>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You guys have been working with the Living Planet Database</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It is an aggregate of smaller studies, not a systematic survey</a:t>
            </a:r>
          </a:p>
        </p:txBody>
      </p:sp>
    </p:spTree>
    <p:extLst>
      <p:ext uri="{BB962C8B-B14F-4D97-AF65-F5344CB8AC3E}">
        <p14:creationId xmlns:p14="http://schemas.microsoft.com/office/powerpoint/2010/main" val="15204278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CDDF6-81A0-51DD-9767-B3F793D37AB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211C4C9-493D-FCF1-8F7A-3AE8E09691D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Data Representativeness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E47A0558-8D00-D07F-D356-91DB31DCE7DC}"/>
              </a:ext>
            </a:extLst>
          </p:cNvPr>
          <p:cNvSpPr txBox="1"/>
          <p:nvPr/>
        </p:nvSpPr>
        <p:spPr>
          <a:xfrm>
            <a:off x="385972" y="1749840"/>
            <a:ext cx="11052341" cy="55399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You guys have been working with the Living Planet Database</a:t>
            </a:r>
          </a:p>
        </p:txBody>
      </p:sp>
      <p:pic>
        <p:nvPicPr>
          <p:cNvPr id="3" name="Picture 2">
            <a:extLst>
              <a:ext uri="{FF2B5EF4-FFF2-40B4-BE49-F238E27FC236}">
                <a16:creationId xmlns:a16="http://schemas.microsoft.com/office/drawing/2014/main" id="{F5E341F6-1191-182C-B3DC-B3F3EDF44E5B}"/>
              </a:ext>
            </a:extLst>
          </p:cNvPr>
          <p:cNvPicPr>
            <a:picLocks noChangeAspect="1"/>
          </p:cNvPicPr>
          <p:nvPr/>
        </p:nvPicPr>
        <p:blipFill>
          <a:blip r:embed="rId2"/>
          <a:stretch>
            <a:fillRect/>
          </a:stretch>
        </p:blipFill>
        <p:spPr>
          <a:xfrm>
            <a:off x="2010294" y="2379840"/>
            <a:ext cx="7772400" cy="4259629"/>
          </a:xfrm>
          <a:prstGeom prst="rect">
            <a:avLst/>
          </a:prstGeom>
        </p:spPr>
      </p:pic>
    </p:spTree>
    <p:extLst>
      <p:ext uri="{BB962C8B-B14F-4D97-AF65-F5344CB8AC3E}">
        <p14:creationId xmlns:p14="http://schemas.microsoft.com/office/powerpoint/2010/main" val="15488382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F5F0E-FD26-07B5-D79E-DFB83E56CA5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881E921-8D83-A845-9B9B-6B1256C6DC3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Data Representativeness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1770B0C5-7C7E-56AF-A08F-8888A0F392C3}"/>
              </a:ext>
            </a:extLst>
          </p:cNvPr>
          <p:cNvSpPr txBox="1"/>
          <p:nvPr/>
        </p:nvSpPr>
        <p:spPr>
          <a:xfrm>
            <a:off x="385972" y="1749840"/>
            <a:ext cx="11052341" cy="55399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This number is quoted EVERYWHERE</a:t>
            </a:r>
          </a:p>
        </p:txBody>
      </p:sp>
      <p:pic>
        <p:nvPicPr>
          <p:cNvPr id="3" name="Picture 2">
            <a:extLst>
              <a:ext uri="{FF2B5EF4-FFF2-40B4-BE49-F238E27FC236}">
                <a16:creationId xmlns:a16="http://schemas.microsoft.com/office/drawing/2014/main" id="{24A3B107-872E-06C3-9815-82C1B13B776D}"/>
              </a:ext>
            </a:extLst>
          </p:cNvPr>
          <p:cNvPicPr>
            <a:picLocks noChangeAspect="1"/>
          </p:cNvPicPr>
          <p:nvPr/>
        </p:nvPicPr>
        <p:blipFill>
          <a:blip r:embed="rId2"/>
          <a:stretch>
            <a:fillRect/>
          </a:stretch>
        </p:blipFill>
        <p:spPr>
          <a:xfrm>
            <a:off x="2010294" y="2379840"/>
            <a:ext cx="7772400" cy="4259629"/>
          </a:xfrm>
          <a:prstGeom prst="rect">
            <a:avLst/>
          </a:prstGeom>
        </p:spPr>
      </p:pic>
    </p:spTree>
    <p:extLst>
      <p:ext uri="{BB962C8B-B14F-4D97-AF65-F5344CB8AC3E}">
        <p14:creationId xmlns:p14="http://schemas.microsoft.com/office/powerpoint/2010/main" val="28023680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03A3-5467-0044-37FD-D5507B35F9C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21E21D6-BB3E-CDD6-7154-B8894B688288}"/>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Data Representativeness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C7959FD8-C6E4-04DC-CF9C-2229813C5C6F}"/>
              </a:ext>
            </a:extLst>
          </p:cNvPr>
          <p:cNvSpPr txBox="1"/>
          <p:nvPr/>
        </p:nvSpPr>
        <p:spPr>
          <a:xfrm>
            <a:off x="385972" y="1749840"/>
            <a:ext cx="11052341" cy="55399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Thoughts?</a:t>
            </a:r>
          </a:p>
        </p:txBody>
      </p:sp>
      <p:pic>
        <p:nvPicPr>
          <p:cNvPr id="3" name="Picture 2">
            <a:extLst>
              <a:ext uri="{FF2B5EF4-FFF2-40B4-BE49-F238E27FC236}">
                <a16:creationId xmlns:a16="http://schemas.microsoft.com/office/drawing/2014/main" id="{22C13ED8-219F-2415-6856-2C3D35E6C2A8}"/>
              </a:ext>
            </a:extLst>
          </p:cNvPr>
          <p:cNvPicPr>
            <a:picLocks noChangeAspect="1"/>
          </p:cNvPicPr>
          <p:nvPr/>
        </p:nvPicPr>
        <p:blipFill>
          <a:blip r:embed="rId2"/>
          <a:stretch>
            <a:fillRect/>
          </a:stretch>
        </p:blipFill>
        <p:spPr>
          <a:xfrm>
            <a:off x="2010294" y="2379840"/>
            <a:ext cx="7772400" cy="4259629"/>
          </a:xfrm>
          <a:prstGeom prst="rect">
            <a:avLst/>
          </a:prstGeom>
        </p:spPr>
      </p:pic>
    </p:spTree>
    <p:extLst>
      <p:ext uri="{BB962C8B-B14F-4D97-AF65-F5344CB8AC3E}">
        <p14:creationId xmlns:p14="http://schemas.microsoft.com/office/powerpoint/2010/main" val="6464526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331A-EDED-E498-FF2D-24B598F2660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4D7CB62-B416-B561-DD6E-D6BCAD1CCF00}"/>
              </a:ext>
            </a:extLst>
          </p:cNvPr>
          <p:cNvSpPr txBox="1"/>
          <p:nvPr/>
        </p:nvSpPr>
        <p:spPr>
          <a:xfrm>
            <a:off x="450318" y="385786"/>
            <a:ext cx="11291363" cy="1938992"/>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There have been a number of challenges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pic>
        <p:nvPicPr>
          <p:cNvPr id="4" name="Picture 3">
            <a:extLst>
              <a:ext uri="{FF2B5EF4-FFF2-40B4-BE49-F238E27FC236}">
                <a16:creationId xmlns:a16="http://schemas.microsoft.com/office/drawing/2014/main" id="{59A7B456-546F-4A41-DA86-EECC0CD4C31B}"/>
              </a:ext>
            </a:extLst>
          </p:cNvPr>
          <p:cNvPicPr>
            <a:picLocks noChangeAspect="1"/>
          </p:cNvPicPr>
          <p:nvPr/>
        </p:nvPicPr>
        <p:blipFill>
          <a:blip r:embed="rId2"/>
          <a:stretch>
            <a:fillRect/>
          </a:stretch>
        </p:blipFill>
        <p:spPr>
          <a:xfrm>
            <a:off x="1040446" y="2941749"/>
            <a:ext cx="3687173" cy="3010164"/>
          </a:xfrm>
          <a:prstGeom prst="rect">
            <a:avLst/>
          </a:prstGeom>
        </p:spPr>
      </p:pic>
      <p:pic>
        <p:nvPicPr>
          <p:cNvPr id="5" name="Picture 4">
            <a:extLst>
              <a:ext uri="{FF2B5EF4-FFF2-40B4-BE49-F238E27FC236}">
                <a16:creationId xmlns:a16="http://schemas.microsoft.com/office/drawing/2014/main" id="{ECEA133B-433C-2494-EADD-AE5C11BB2DE2}"/>
              </a:ext>
            </a:extLst>
          </p:cNvPr>
          <p:cNvPicPr>
            <a:picLocks noChangeAspect="1"/>
          </p:cNvPicPr>
          <p:nvPr/>
        </p:nvPicPr>
        <p:blipFill>
          <a:blip r:embed="rId3"/>
          <a:stretch>
            <a:fillRect/>
          </a:stretch>
        </p:blipFill>
        <p:spPr>
          <a:xfrm>
            <a:off x="6006087" y="1741100"/>
            <a:ext cx="4644783" cy="2515016"/>
          </a:xfrm>
          <a:prstGeom prst="rect">
            <a:avLst/>
          </a:prstGeom>
        </p:spPr>
      </p:pic>
      <p:pic>
        <p:nvPicPr>
          <p:cNvPr id="6" name="Picture 5">
            <a:extLst>
              <a:ext uri="{FF2B5EF4-FFF2-40B4-BE49-F238E27FC236}">
                <a16:creationId xmlns:a16="http://schemas.microsoft.com/office/drawing/2014/main" id="{30628B89-4305-F632-145E-2B45C848B538}"/>
              </a:ext>
            </a:extLst>
          </p:cNvPr>
          <p:cNvPicPr>
            <a:picLocks noChangeAspect="1"/>
          </p:cNvPicPr>
          <p:nvPr/>
        </p:nvPicPr>
        <p:blipFill>
          <a:blip r:embed="rId4"/>
          <a:stretch>
            <a:fillRect/>
          </a:stretch>
        </p:blipFill>
        <p:spPr>
          <a:xfrm>
            <a:off x="3624348" y="4012494"/>
            <a:ext cx="4213167" cy="2562873"/>
          </a:xfrm>
          <a:prstGeom prst="rect">
            <a:avLst/>
          </a:prstGeom>
        </p:spPr>
      </p:pic>
      <p:pic>
        <p:nvPicPr>
          <p:cNvPr id="7" name="Picture 6">
            <a:extLst>
              <a:ext uri="{FF2B5EF4-FFF2-40B4-BE49-F238E27FC236}">
                <a16:creationId xmlns:a16="http://schemas.microsoft.com/office/drawing/2014/main" id="{9E807D23-2C39-CF48-9372-EA46F1FD7549}"/>
              </a:ext>
            </a:extLst>
          </p:cNvPr>
          <p:cNvPicPr>
            <a:picLocks noChangeAspect="1"/>
          </p:cNvPicPr>
          <p:nvPr/>
        </p:nvPicPr>
        <p:blipFill>
          <a:blip r:embed="rId5"/>
          <a:stretch>
            <a:fillRect/>
          </a:stretch>
        </p:blipFill>
        <p:spPr>
          <a:xfrm>
            <a:off x="7565606" y="3657601"/>
            <a:ext cx="4378398" cy="2499759"/>
          </a:xfrm>
          <a:prstGeom prst="rect">
            <a:avLst/>
          </a:prstGeom>
        </p:spPr>
      </p:pic>
    </p:spTree>
    <p:extLst>
      <p:ext uri="{BB962C8B-B14F-4D97-AF65-F5344CB8AC3E}">
        <p14:creationId xmlns:p14="http://schemas.microsoft.com/office/powerpoint/2010/main" val="3625090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80482-5DB4-CCAE-5A2D-64ED2862F3E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B1B7F94-1441-E5A7-F83E-5439ABFCF13D}"/>
              </a:ext>
            </a:extLst>
          </p:cNvPr>
          <p:cNvSpPr txBox="1"/>
          <p:nvPr/>
        </p:nvSpPr>
        <p:spPr>
          <a:xfrm>
            <a:off x="450318" y="385786"/>
            <a:ext cx="11291363" cy="1938992"/>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There have been a number of challenges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4553B54D-D31F-2007-83C5-2D4FE36FA6F0}"/>
              </a:ext>
            </a:extLst>
          </p:cNvPr>
          <p:cNvSpPr txBox="1"/>
          <p:nvPr/>
        </p:nvSpPr>
        <p:spPr>
          <a:xfrm>
            <a:off x="369346" y="3030000"/>
            <a:ext cx="11052341" cy="553998"/>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What does the data *actually* show? </a:t>
            </a:r>
          </a:p>
        </p:txBody>
      </p:sp>
    </p:spTree>
    <p:extLst>
      <p:ext uri="{BB962C8B-B14F-4D97-AF65-F5344CB8AC3E}">
        <p14:creationId xmlns:p14="http://schemas.microsoft.com/office/powerpoint/2010/main" val="8789980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301BF-FF49-1E1B-8862-7C43185B617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3D2EDB0-8E16-1E55-E41B-213747A2F8B6}"/>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 does the data show?</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pic>
        <p:nvPicPr>
          <p:cNvPr id="3" name="Picture 2">
            <a:extLst>
              <a:ext uri="{FF2B5EF4-FFF2-40B4-BE49-F238E27FC236}">
                <a16:creationId xmlns:a16="http://schemas.microsoft.com/office/drawing/2014/main" id="{8CA53C28-2416-AEF0-2E8C-D1ED5B8DD3C1}"/>
              </a:ext>
            </a:extLst>
          </p:cNvPr>
          <p:cNvPicPr>
            <a:picLocks noChangeAspect="1"/>
          </p:cNvPicPr>
          <p:nvPr/>
        </p:nvPicPr>
        <p:blipFill rotWithShape="1">
          <a:blip r:embed="rId2"/>
          <a:srcRect t="1115" r="465"/>
          <a:stretch/>
        </p:blipFill>
        <p:spPr>
          <a:xfrm>
            <a:off x="2209799" y="2406316"/>
            <a:ext cx="7736306" cy="4135579"/>
          </a:xfrm>
          <a:prstGeom prst="rect">
            <a:avLst/>
          </a:prstGeom>
        </p:spPr>
      </p:pic>
    </p:spTree>
    <p:extLst>
      <p:ext uri="{BB962C8B-B14F-4D97-AF65-F5344CB8AC3E}">
        <p14:creationId xmlns:p14="http://schemas.microsoft.com/office/powerpoint/2010/main" val="30119738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74A-CA54-8A06-2BA1-8E030CE4438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D2C9D0D-7818-FEF0-715B-18B4C7C013C4}"/>
              </a:ext>
            </a:extLst>
          </p:cNvPr>
          <p:cNvPicPr>
            <a:picLocks noChangeAspect="1"/>
          </p:cNvPicPr>
          <p:nvPr/>
        </p:nvPicPr>
        <p:blipFill rotWithShape="1">
          <a:blip r:embed="rId2"/>
          <a:srcRect t="1115" r="465"/>
          <a:stretch/>
        </p:blipFill>
        <p:spPr>
          <a:xfrm>
            <a:off x="2226424" y="760396"/>
            <a:ext cx="7736306" cy="4135579"/>
          </a:xfrm>
          <a:prstGeom prst="rect">
            <a:avLst/>
          </a:prstGeom>
        </p:spPr>
      </p:pic>
      <p:sp>
        <p:nvSpPr>
          <p:cNvPr id="4" name="TextBox 3">
            <a:extLst>
              <a:ext uri="{FF2B5EF4-FFF2-40B4-BE49-F238E27FC236}">
                <a16:creationId xmlns:a16="http://schemas.microsoft.com/office/drawing/2014/main" id="{44A29A4F-710C-11C0-47AB-B4E144936B8D}"/>
              </a:ext>
            </a:extLst>
          </p:cNvPr>
          <p:cNvSpPr txBox="1"/>
          <p:nvPr/>
        </p:nvSpPr>
        <p:spPr>
          <a:xfrm>
            <a:off x="2081767" y="5756575"/>
            <a:ext cx="11052341"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Does that represent what’s going on in the world?</a:t>
            </a:r>
          </a:p>
        </p:txBody>
      </p:sp>
    </p:spTree>
    <p:extLst>
      <p:ext uri="{BB962C8B-B14F-4D97-AF65-F5344CB8AC3E}">
        <p14:creationId xmlns:p14="http://schemas.microsoft.com/office/powerpoint/2010/main" val="25294628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21EB6-0C76-605D-F6FD-E8B12F07736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42F7FFC-F049-AA81-440D-EF1CC551598F}"/>
              </a:ext>
            </a:extLst>
          </p:cNvPr>
          <p:cNvPicPr>
            <a:picLocks noChangeAspect="1"/>
          </p:cNvPicPr>
          <p:nvPr/>
        </p:nvPicPr>
        <p:blipFill rotWithShape="1">
          <a:blip r:embed="rId2"/>
          <a:srcRect t="1115" r="465"/>
          <a:stretch/>
        </p:blipFill>
        <p:spPr>
          <a:xfrm>
            <a:off x="2226424" y="760396"/>
            <a:ext cx="7736306" cy="4135579"/>
          </a:xfrm>
          <a:prstGeom prst="rect">
            <a:avLst/>
          </a:prstGeom>
        </p:spPr>
      </p:pic>
      <p:sp>
        <p:nvSpPr>
          <p:cNvPr id="4" name="TextBox 3">
            <a:extLst>
              <a:ext uri="{FF2B5EF4-FFF2-40B4-BE49-F238E27FC236}">
                <a16:creationId xmlns:a16="http://schemas.microsoft.com/office/drawing/2014/main" id="{DF32ACAD-2A3D-3446-B658-5FFDF89A0A6F}"/>
              </a:ext>
            </a:extLst>
          </p:cNvPr>
          <p:cNvSpPr txBox="1"/>
          <p:nvPr/>
        </p:nvSpPr>
        <p:spPr>
          <a:xfrm>
            <a:off x="1882261" y="5773201"/>
            <a:ext cx="11052341"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When are we likely to collect data on a population?</a:t>
            </a:r>
          </a:p>
        </p:txBody>
      </p:sp>
    </p:spTree>
    <p:extLst>
      <p:ext uri="{BB962C8B-B14F-4D97-AF65-F5344CB8AC3E}">
        <p14:creationId xmlns:p14="http://schemas.microsoft.com/office/powerpoint/2010/main" val="1306124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2DFDA-C169-30BD-33A9-5024F7F5A3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0C32F87-5FBB-541F-B1EA-DA5B08B4A368}"/>
              </a:ext>
            </a:extLst>
          </p:cNvPr>
          <p:cNvPicPr>
            <a:picLocks noChangeAspect="1"/>
          </p:cNvPicPr>
          <p:nvPr/>
        </p:nvPicPr>
        <p:blipFill rotWithShape="1">
          <a:blip r:embed="rId2"/>
          <a:srcRect t="1115" r="465"/>
          <a:stretch/>
        </p:blipFill>
        <p:spPr>
          <a:xfrm>
            <a:off x="2226424" y="760396"/>
            <a:ext cx="7736306" cy="4135579"/>
          </a:xfrm>
          <a:prstGeom prst="rect">
            <a:avLst/>
          </a:prstGeom>
        </p:spPr>
      </p:pic>
      <p:sp>
        <p:nvSpPr>
          <p:cNvPr id="4" name="TextBox 3">
            <a:extLst>
              <a:ext uri="{FF2B5EF4-FFF2-40B4-BE49-F238E27FC236}">
                <a16:creationId xmlns:a16="http://schemas.microsoft.com/office/drawing/2014/main" id="{13376496-234C-451C-1DEB-D9582D9757DC}"/>
              </a:ext>
            </a:extLst>
          </p:cNvPr>
          <p:cNvSpPr txBox="1"/>
          <p:nvPr/>
        </p:nvSpPr>
        <p:spPr>
          <a:xfrm>
            <a:off x="1882261" y="5773201"/>
            <a:ext cx="11052341"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Have we representatively sampled every species?</a:t>
            </a:r>
          </a:p>
        </p:txBody>
      </p:sp>
    </p:spTree>
    <p:extLst>
      <p:ext uri="{BB962C8B-B14F-4D97-AF65-F5344CB8AC3E}">
        <p14:creationId xmlns:p14="http://schemas.microsoft.com/office/powerpoint/2010/main" val="15056429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C844-512C-C9E0-F7C5-7AFEBC30662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395AB55-0021-3A59-039A-AC4F57CCE864}"/>
              </a:ext>
            </a:extLst>
          </p:cNvPr>
          <p:cNvPicPr>
            <a:picLocks noChangeAspect="1"/>
          </p:cNvPicPr>
          <p:nvPr/>
        </p:nvPicPr>
        <p:blipFill>
          <a:blip r:embed="rId2"/>
          <a:stretch>
            <a:fillRect/>
          </a:stretch>
        </p:blipFill>
        <p:spPr>
          <a:xfrm>
            <a:off x="2251880" y="1521734"/>
            <a:ext cx="7820167" cy="4687317"/>
          </a:xfrm>
          <a:prstGeom prst="rect">
            <a:avLst/>
          </a:prstGeom>
        </p:spPr>
      </p:pic>
      <p:sp>
        <p:nvSpPr>
          <p:cNvPr id="5" name="TextBox 4">
            <a:extLst>
              <a:ext uri="{FF2B5EF4-FFF2-40B4-BE49-F238E27FC236}">
                <a16:creationId xmlns:a16="http://schemas.microsoft.com/office/drawing/2014/main" id="{FBE51589-34D4-BECC-7220-B9FF7FFC828E}"/>
              </a:ext>
            </a:extLst>
          </p:cNvPr>
          <p:cNvSpPr txBox="1"/>
          <p:nvPr/>
        </p:nvSpPr>
        <p:spPr>
          <a:xfrm>
            <a:off x="450318" y="385786"/>
            <a:ext cx="11291363" cy="707886"/>
          </a:xfrm>
          <a:prstGeom prst="rect">
            <a:avLst/>
          </a:prstGeom>
          <a:noFill/>
        </p:spPr>
        <p:txBody>
          <a:bodyPr wrap="square">
            <a:spAutoFit/>
          </a:bodyPr>
          <a:lstStyle/>
          <a:p>
            <a:r>
              <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rPr>
              <a:t>Are we sampling intact habitat more?</a:t>
            </a:r>
          </a:p>
        </p:txBody>
      </p:sp>
    </p:spTree>
    <p:extLst>
      <p:ext uri="{BB962C8B-B14F-4D97-AF65-F5344CB8AC3E}">
        <p14:creationId xmlns:p14="http://schemas.microsoft.com/office/powerpoint/2010/main" val="41265542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302E0-7342-7707-C136-8DE901A78A2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F1D0D75-F907-AF38-ABC3-501993D1B095}"/>
              </a:ext>
            </a:extLst>
          </p:cNvPr>
          <p:cNvSpPr txBox="1"/>
          <p:nvPr/>
        </p:nvSpPr>
        <p:spPr>
          <a:xfrm>
            <a:off x="450318" y="385786"/>
            <a:ext cx="11291363" cy="861774"/>
          </a:xfrm>
          <a:prstGeom prst="rect">
            <a:avLst/>
          </a:prstGeom>
          <a:noFill/>
        </p:spPr>
        <p:txBody>
          <a:bodyPr wrap="square">
            <a:spAutoFit/>
          </a:bodyPr>
          <a:lstStyle/>
          <a:p>
            <a:r>
              <a:rPr lang="en-GB" sz="5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Your Turn – For your WWF Species…</a:t>
            </a:r>
            <a:endParaRPr lang="en-GB" sz="5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A484CFB8-8E99-A3A5-959E-3E8687E90AE1}"/>
              </a:ext>
            </a:extLst>
          </p:cNvPr>
          <p:cNvSpPr txBox="1"/>
          <p:nvPr/>
        </p:nvSpPr>
        <p:spPr>
          <a:xfrm>
            <a:off x="235847" y="1379577"/>
            <a:ext cx="9631485" cy="5478423"/>
          </a:xfrm>
          <a:prstGeom prst="rect">
            <a:avLst/>
          </a:prstGeom>
          <a:noFill/>
        </p:spPr>
        <p:txBody>
          <a:bodyPr wrap="square">
            <a:spAutoFit/>
          </a:bodyPr>
          <a:lstStyle/>
          <a:p>
            <a:pPr marL="457200" indent="-457200">
              <a:buFont typeface="+mj-lt"/>
              <a:buAutoNum type="arabicPeriod"/>
            </a:pPr>
            <a:r>
              <a:rPr lang="en-US" sz="2500" u="sng" dirty="0">
                <a:solidFill>
                  <a:schemeClr val="accent6">
                    <a:lumMod val="50000"/>
                  </a:schemeClr>
                </a:solidFill>
                <a:latin typeface="Avenir Book" panose="02000503020000020003" pitchFamily="2" charset="0"/>
              </a:rPr>
              <a:t>Where do you have data from? </a:t>
            </a:r>
            <a:r>
              <a:rPr lang="en-US" sz="2500" dirty="0">
                <a:solidFill>
                  <a:schemeClr val="accent6">
                    <a:lumMod val="50000"/>
                  </a:schemeClr>
                </a:solidFill>
                <a:latin typeface="Avenir Book" panose="02000503020000020003" pitchFamily="2" charset="0"/>
              </a:rPr>
              <a:t>(If you have lots of populations, just look at which countries, if you have only a few you could google specific locations)</a:t>
            </a:r>
          </a:p>
          <a:p>
            <a:pPr lvl="1"/>
            <a:r>
              <a:rPr lang="en-US" sz="2000" dirty="0">
                <a:solidFill>
                  <a:schemeClr val="accent6">
                    <a:lumMod val="50000"/>
                  </a:schemeClr>
                </a:solidFill>
                <a:latin typeface="Avenir Book" panose="02000503020000020003" pitchFamily="2" charset="0"/>
              </a:rPr>
              <a:t>(Ask if you’ve deleted those columns and need a hand recovering)</a:t>
            </a:r>
          </a:p>
          <a:p>
            <a:pPr marL="457200" indent="-457200">
              <a:buFont typeface="+mj-lt"/>
              <a:buAutoNum type="arabicPeriod"/>
            </a:pPr>
            <a:endParaRPr lang="en-US" sz="1000" dirty="0">
              <a:solidFill>
                <a:schemeClr val="accent6">
                  <a:lumMod val="50000"/>
                </a:schemeClr>
              </a:solidFill>
              <a:latin typeface="Avenir Book" panose="02000503020000020003" pitchFamily="2" charset="0"/>
            </a:endParaRPr>
          </a:p>
          <a:p>
            <a:pPr marL="457200" indent="-457200">
              <a:buFont typeface="+mj-lt"/>
              <a:buAutoNum type="arabicPeriod"/>
            </a:pPr>
            <a:r>
              <a:rPr lang="en-US" sz="2500" dirty="0">
                <a:solidFill>
                  <a:schemeClr val="accent6">
                    <a:lumMod val="50000"/>
                  </a:schemeClr>
                </a:solidFill>
                <a:latin typeface="Avenir Book" panose="02000503020000020003" pitchFamily="2" charset="0"/>
              </a:rPr>
              <a:t>Now, research your species. Where does it occur? </a:t>
            </a:r>
            <a:r>
              <a:rPr lang="en-US" sz="2500" u="sng" dirty="0">
                <a:solidFill>
                  <a:schemeClr val="accent6">
                    <a:lumMod val="50000"/>
                  </a:schemeClr>
                </a:solidFill>
                <a:latin typeface="Avenir Book" panose="02000503020000020003" pitchFamily="2" charset="0"/>
              </a:rPr>
              <a:t>How much of its range do you have data for?</a:t>
            </a:r>
          </a:p>
          <a:p>
            <a:pPr marL="457200" indent="-457200">
              <a:buFont typeface="+mj-lt"/>
              <a:buAutoNum type="arabicPeriod"/>
            </a:pPr>
            <a:endParaRPr lang="en-US" sz="1000" dirty="0">
              <a:solidFill>
                <a:schemeClr val="accent6">
                  <a:lumMod val="50000"/>
                </a:schemeClr>
              </a:solidFill>
              <a:latin typeface="Avenir Book" panose="02000503020000020003" pitchFamily="2" charset="0"/>
            </a:endParaRPr>
          </a:p>
          <a:p>
            <a:pPr marL="457200" indent="-457200">
              <a:buFont typeface="+mj-lt"/>
              <a:buAutoNum type="arabicPeriod"/>
            </a:pPr>
            <a:r>
              <a:rPr lang="en-US" sz="2500" u="sng" dirty="0">
                <a:solidFill>
                  <a:schemeClr val="accent6">
                    <a:lumMod val="50000"/>
                  </a:schemeClr>
                </a:solidFill>
                <a:latin typeface="Avenir Book" panose="02000503020000020003" pitchFamily="2" charset="0"/>
              </a:rPr>
              <a:t>Do NOT try and do formal analysis/collect data</a:t>
            </a:r>
            <a:r>
              <a:rPr lang="en-US" sz="2500" dirty="0">
                <a:solidFill>
                  <a:schemeClr val="accent6">
                    <a:lumMod val="50000"/>
                  </a:schemeClr>
                </a:solidFill>
                <a:latin typeface="Avenir Book" panose="02000503020000020003" pitchFamily="2" charset="0"/>
              </a:rPr>
              <a:t>. But do do some more research and thinking. How likely is it that the areas you do have data for are representative of the total range of your species?</a:t>
            </a:r>
          </a:p>
          <a:p>
            <a:pPr marL="457200" indent="-457200">
              <a:buFont typeface="+mj-lt"/>
              <a:buAutoNum type="arabicPeriod"/>
            </a:pPr>
            <a:endParaRPr lang="en-US" sz="1000" dirty="0">
              <a:solidFill>
                <a:schemeClr val="accent6">
                  <a:lumMod val="50000"/>
                </a:schemeClr>
              </a:solidFill>
              <a:latin typeface="Avenir Book" panose="02000503020000020003" pitchFamily="2" charset="0"/>
            </a:endParaRPr>
          </a:p>
          <a:p>
            <a:pPr marL="457200" indent="-457200">
              <a:buFont typeface="+mj-lt"/>
              <a:buAutoNum type="arabicPeriod"/>
            </a:pPr>
            <a:r>
              <a:rPr lang="en-US" sz="2500" u="sng" dirty="0">
                <a:solidFill>
                  <a:schemeClr val="accent6">
                    <a:lumMod val="50000"/>
                  </a:schemeClr>
                </a:solidFill>
                <a:latin typeface="Avenir Book" panose="02000503020000020003" pitchFamily="2" charset="0"/>
              </a:rPr>
              <a:t>Include 2-3 sentences discussing this in your report!</a:t>
            </a:r>
            <a:r>
              <a:rPr lang="en-US" sz="2500" dirty="0">
                <a:solidFill>
                  <a:schemeClr val="accent6">
                    <a:lumMod val="50000"/>
                  </a:schemeClr>
                </a:solidFill>
                <a:latin typeface="Avenir Book" panose="02000503020000020003" pitchFamily="2" charset="0"/>
              </a:rPr>
              <a:t> Use them to warn (or reassure!) WWF about how likely it is that the data and model you’re using represent the species overall.  </a:t>
            </a:r>
          </a:p>
        </p:txBody>
      </p:sp>
      <p:sp>
        <p:nvSpPr>
          <p:cNvPr id="3" name="TextBox 2">
            <a:extLst>
              <a:ext uri="{FF2B5EF4-FFF2-40B4-BE49-F238E27FC236}">
                <a16:creationId xmlns:a16="http://schemas.microsoft.com/office/drawing/2014/main" id="{8A4E78BF-E7ED-2799-4EDF-64DD782752C0}"/>
              </a:ext>
            </a:extLst>
          </p:cNvPr>
          <p:cNvSpPr txBox="1"/>
          <p:nvPr/>
        </p:nvSpPr>
        <p:spPr>
          <a:xfrm>
            <a:off x="10235822" y="2692037"/>
            <a:ext cx="1678676" cy="2400657"/>
          </a:xfrm>
          <a:prstGeom prst="rect">
            <a:avLst/>
          </a:prstGeom>
          <a:noFill/>
          <a:ln>
            <a:solidFill>
              <a:schemeClr val="accent6">
                <a:lumMod val="50000"/>
              </a:schemeClr>
            </a:solidFill>
          </a:ln>
        </p:spPr>
        <p:txBody>
          <a:bodyPr wrap="square">
            <a:spAutoFit/>
          </a:bodyPr>
          <a:lstStyle/>
          <a:p>
            <a:pPr algn="ctr"/>
            <a:r>
              <a:rPr lang="en-US" sz="1500" dirty="0">
                <a:solidFill>
                  <a:schemeClr val="accent6">
                    <a:lumMod val="50000"/>
                  </a:schemeClr>
                </a:solidFill>
                <a:latin typeface="Avenir Book" panose="02000503020000020003" pitchFamily="2" charset="0"/>
              </a:rPr>
              <a:t>1hr for this, after that I’ll introduce the Tutorial Assignment, and then you can use the rest of class to keep working on this/ask Qs about WWF report</a:t>
            </a:r>
          </a:p>
        </p:txBody>
      </p:sp>
    </p:spTree>
    <p:extLst>
      <p:ext uri="{BB962C8B-B14F-4D97-AF65-F5344CB8AC3E}">
        <p14:creationId xmlns:p14="http://schemas.microsoft.com/office/powerpoint/2010/main" val="42879902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B9F17-B504-FAF4-2D23-3FDB60A30FC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3A45BC6-0B5C-8DF3-7C4B-C9CD77AF6354}"/>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Final Assessments </a:t>
            </a:r>
            <a:r>
              <a:rPr lang="en-GB" sz="2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(Tutorial 40% + Reflection 20%)</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305F721C-AE1F-F7E7-4AC4-68A966266623}"/>
              </a:ext>
            </a:extLst>
          </p:cNvPr>
          <p:cNvSpPr txBox="1"/>
          <p:nvPr/>
        </p:nvSpPr>
        <p:spPr>
          <a:xfrm>
            <a:off x="724188" y="1842645"/>
            <a:ext cx="11052341" cy="5170646"/>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Create a Coding Club Tutorial (40%). We will release a repo with full instructions. </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Write a 500 word reflection about your experience on this course (20%)</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b="1" dirty="0">
                <a:solidFill>
                  <a:schemeClr val="accent6">
                    <a:lumMod val="50000"/>
                  </a:schemeClr>
                </a:solidFill>
                <a:latin typeface="Avenir Book" panose="02000503020000020003" pitchFamily="2" charset="0"/>
              </a:rPr>
              <a:t>Submission: </a:t>
            </a:r>
            <a:r>
              <a:rPr lang="en-US" sz="3000" dirty="0">
                <a:solidFill>
                  <a:schemeClr val="accent6">
                    <a:lumMod val="50000"/>
                  </a:schemeClr>
                </a:solidFill>
                <a:latin typeface="Avenir Book" panose="02000503020000020003" pitchFamily="2" charset="0"/>
              </a:rPr>
              <a:t>Submit a word doc with two parts. First – the URL to your tutorial, then the Reflection. </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1432666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89254-353A-7927-F84B-A9B64A9C1AF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37A47BE-F47D-F55E-8BC6-CB18D8613EE0}"/>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Tutorial</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B08D0088-E448-809B-60AD-43AFDCC96221}"/>
              </a:ext>
            </a:extLst>
          </p:cNvPr>
          <p:cNvSpPr txBox="1"/>
          <p:nvPr/>
        </p:nvSpPr>
        <p:spPr>
          <a:xfrm>
            <a:off x="724188" y="1842645"/>
            <a:ext cx="11052341" cy="5170646"/>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On a topic of your choice (at a level that would teach someone who has taken this course </a:t>
            </a:r>
            <a:r>
              <a:rPr lang="en-US" sz="3000" i="1" u="sng" dirty="0">
                <a:solidFill>
                  <a:schemeClr val="accent6">
                    <a:lumMod val="50000"/>
                  </a:schemeClr>
                </a:solidFill>
                <a:latin typeface="Avenir Book" panose="02000503020000020003" pitchFamily="2" charset="0"/>
              </a:rPr>
              <a:t>something new</a:t>
            </a:r>
            <a:r>
              <a:rPr lang="en-US" sz="3000" dirty="0">
                <a:solidFill>
                  <a:schemeClr val="accent6">
                    <a:lumMod val="50000"/>
                  </a:schemeClr>
                </a:solidFill>
                <a:latin typeface="Avenir Book" panose="02000503020000020003" pitchFamily="2" charset="0"/>
              </a:rPr>
              <a:t>). </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Structure like the ‘Coding Club’ tutorials (example links in repo)</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3-5 Learning Objectives, each taking ~10mins to complete (no word limit, but don’t make it crazy long – that would be a bad tutorial!)</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312534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E3F89-3521-8B0D-2C44-4C596F73516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6511F79-1CF9-B5CA-2DBC-693172B51743}"/>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Tutorial - Criteria</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69A658D4-4F4E-D4BA-3E44-6E9C2B07F8C7}"/>
              </a:ext>
            </a:extLst>
          </p:cNvPr>
          <p:cNvSpPr txBox="1"/>
          <p:nvPr/>
        </p:nvSpPr>
        <p:spPr>
          <a:xfrm>
            <a:off x="724188" y="1842645"/>
            <a:ext cx="11052341" cy="6093976"/>
          </a:xfrm>
          <a:prstGeom prst="rect">
            <a:avLst/>
          </a:prstGeom>
          <a:noFill/>
        </p:spPr>
        <p:txBody>
          <a:bodyPr wrap="square">
            <a:spAutoFit/>
          </a:bodyPr>
          <a:lstStyle/>
          <a:p>
            <a:pPr marL="457200" indent="-457200">
              <a:buFont typeface="Arial" panose="020B0604020202020204" pitchFamily="34" charset="0"/>
              <a:buChar char="•"/>
            </a:pPr>
            <a:r>
              <a:rPr lang="en-US" sz="28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Topic and Structure (20%) </a:t>
            </a:r>
            <a:r>
              <a:rPr lang="en-US" sz="3000" dirty="0">
                <a:solidFill>
                  <a:schemeClr val="accent6">
                    <a:lumMod val="50000"/>
                  </a:schemeClr>
                </a:solidFill>
                <a:latin typeface="Avenir Book" panose="02000503020000020003" pitchFamily="2" charset="0"/>
              </a:rPr>
              <a:t>- Have you picked an appropriate, cohesive topic, with the right number of learning objectives?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28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Content (40%) </a:t>
            </a:r>
            <a:r>
              <a:rPr lang="en-US" sz="3000" dirty="0">
                <a:solidFill>
                  <a:schemeClr val="accent6">
                    <a:lumMod val="50000"/>
                  </a:schemeClr>
                </a:solidFill>
                <a:latin typeface="Avenir Book" panose="02000503020000020003" pitchFamily="2" charset="0"/>
              </a:rPr>
              <a:t>- Have you written clearly and with good structure, have you explained concepts clearly, can the reader follow along easily with access to all data/code </a:t>
            </a:r>
            <a:r>
              <a:rPr lang="en-US" sz="3000" dirty="0" err="1">
                <a:solidFill>
                  <a:schemeClr val="accent6">
                    <a:lumMod val="50000"/>
                  </a:schemeClr>
                </a:solidFill>
                <a:latin typeface="Avenir Book" panose="02000503020000020003" pitchFamily="2" charset="0"/>
              </a:rPr>
              <a:t>etc</a:t>
            </a:r>
            <a:r>
              <a:rPr lang="en-US" sz="3000" dirty="0">
                <a:solidFill>
                  <a:schemeClr val="accent6">
                    <a:lumMod val="50000"/>
                  </a:schemeClr>
                </a:solidFill>
                <a:latin typeface="Avenir Book" panose="02000503020000020003" pitchFamily="2" charset="0"/>
              </a:rPr>
              <a:t>?</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28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Creativity (40%) </a:t>
            </a:r>
            <a:r>
              <a:rPr lang="en-US" sz="3000" dirty="0">
                <a:solidFill>
                  <a:schemeClr val="accent6">
                    <a:lumMod val="50000"/>
                  </a:schemeClr>
                </a:solidFill>
                <a:latin typeface="Avenir Book" panose="02000503020000020003" pitchFamily="2" charset="0"/>
              </a:rPr>
              <a:t>- Have you made full use of the web format, markdown, and images to produce a tutorial that is visually attractive, and teaches in creative ways?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9535360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EDA5E-F8AD-FA37-53E3-1D634DF48CF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D838603-2F30-7D67-5037-EA57C41F36A6}"/>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Tutorial - Criteria</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28E67E2E-3C12-2D89-C5EB-0D37300002E6}"/>
              </a:ext>
            </a:extLst>
          </p:cNvPr>
          <p:cNvSpPr txBox="1"/>
          <p:nvPr/>
        </p:nvSpPr>
        <p:spPr>
          <a:xfrm>
            <a:off x="1256451" y="3207421"/>
            <a:ext cx="11052341"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Read the marking rubric in detail! This is what we mark to!!</a:t>
            </a:r>
          </a:p>
        </p:txBody>
      </p:sp>
    </p:spTree>
    <p:extLst>
      <p:ext uri="{BB962C8B-B14F-4D97-AF65-F5344CB8AC3E}">
        <p14:creationId xmlns:p14="http://schemas.microsoft.com/office/powerpoint/2010/main" val="8351793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00FD8-DFC9-2011-3AB1-6A339B90329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9BC9C24-C722-EA98-E063-2BA430BB83FB}"/>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Reflection</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25C969B9-E6B0-3CB4-DAEB-A510E2B29B01}"/>
              </a:ext>
            </a:extLst>
          </p:cNvPr>
          <p:cNvSpPr txBox="1"/>
          <p:nvPr/>
        </p:nvSpPr>
        <p:spPr>
          <a:xfrm>
            <a:off x="669597" y="1596986"/>
            <a:ext cx="11052341" cy="6093976"/>
          </a:xfrm>
          <a:prstGeom prst="rect">
            <a:avLst/>
          </a:prstGeom>
          <a:noFill/>
        </p:spPr>
        <p:txBody>
          <a:bodyPr wrap="square">
            <a:spAutoFit/>
          </a:bodyPr>
          <a:lstStyle/>
          <a:p>
            <a:pPr marL="457200" indent="-457200">
              <a:buFont typeface="Arial" panose="020B0604020202020204" pitchFamily="34" charset="0"/>
              <a:buChar char="•"/>
            </a:pPr>
            <a:r>
              <a:rPr lang="en-US" sz="3000" b="1" i="1" u="sng" dirty="0">
                <a:solidFill>
                  <a:schemeClr val="accent6">
                    <a:lumMod val="50000"/>
                  </a:schemeClr>
                </a:solidFill>
                <a:latin typeface="Avenir Book" panose="02000503020000020003" pitchFamily="2" charset="0"/>
              </a:rPr>
              <a:t>Personal</a:t>
            </a: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How has course content shaped your understanding of critical skills, ethical perspectives and/or analytical approaches? </a:t>
            </a:r>
            <a:r>
              <a:rPr lang="en-US" sz="2000" dirty="0">
                <a:solidFill>
                  <a:schemeClr val="accent6">
                    <a:lumMod val="50000"/>
                  </a:schemeClr>
                </a:solidFill>
                <a:latin typeface="Avenir Book" panose="02000503020000020003" pitchFamily="2" charset="0"/>
              </a:rPr>
              <a:t>(Challenged assumptions, broadened insights, new ways to problem solve, new ways of thinking about data)</a:t>
            </a:r>
          </a:p>
          <a:p>
            <a:pPr marL="457200" indent="-457200">
              <a:buFont typeface="Arial" panose="020B0604020202020204" pitchFamily="34" charset="0"/>
              <a:buChar char="•"/>
            </a:pPr>
            <a:endParaRPr lang="en-US" sz="2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Have you developed new ways of thinking? In what ways?</a:t>
            </a:r>
          </a:p>
          <a:p>
            <a:pPr marL="457200" indent="-457200">
              <a:buFont typeface="Arial" panose="020B0604020202020204" pitchFamily="34" charset="0"/>
              <a:buChar char="•"/>
            </a:pPr>
            <a:endParaRPr lang="en-US" sz="2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Talk about the past and the future (why is what you’ve learnt particularly relevant given your past, and how will you take what you’ve learnt into the future)</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2605936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1E2A7-3CBA-CD23-8548-76FF04B8BF4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E03395C-1C20-6387-1D2A-A11E38126609}"/>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Reflection</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DAB450CC-D062-7EFC-4323-CA68D1B5AAD5}"/>
              </a:ext>
            </a:extLst>
          </p:cNvPr>
          <p:cNvSpPr txBox="1"/>
          <p:nvPr/>
        </p:nvSpPr>
        <p:spPr>
          <a:xfrm>
            <a:off x="724188" y="1842645"/>
            <a:ext cx="11052341" cy="5324535"/>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Use *specific* examples (from the course, and your life)</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Concise, formal, writing (Think a ‘think piece’ in the newspaper)</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BUT don’t get too technical! Write to an educated, but NON data-science-specialist audience. If you reference technical points, explain them.</a:t>
            </a:r>
          </a:p>
          <a:p>
            <a:endParaRPr lang="en-US" sz="2000" dirty="0">
              <a:solidFill>
                <a:schemeClr val="accent6">
                  <a:lumMod val="50000"/>
                </a:schemeClr>
              </a:solidFill>
              <a:latin typeface="Avenir Book" panose="02000503020000020003" pitchFamily="2" charset="0"/>
            </a:endParaRPr>
          </a:p>
          <a:p>
            <a:r>
              <a:rPr lang="en-US" sz="2000" dirty="0">
                <a:solidFill>
                  <a:schemeClr val="accent6">
                    <a:lumMod val="50000"/>
                  </a:schemeClr>
                </a:solidFill>
                <a:latin typeface="Avenir Book" panose="02000503020000020003" pitchFamily="2" charset="0"/>
              </a:rPr>
              <a:t>	(Your friend who’s studying e.g. law or business should be able to understand.)</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12828973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CAFBE-D187-4AF3-EA0E-62BAECBA7F4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4498FED-569F-F09E-9D7C-8F122F196D0E}"/>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Reflection</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084DC31B-2522-D0BA-1C86-70C07F15BE85}"/>
              </a:ext>
            </a:extLst>
          </p:cNvPr>
          <p:cNvSpPr txBox="1"/>
          <p:nvPr/>
        </p:nvSpPr>
        <p:spPr>
          <a:xfrm>
            <a:off x="724188" y="1842645"/>
            <a:ext cx="11052341" cy="1938992"/>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We do not release a repo for this – just write in a word doc and submit to learn! </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(Be sure to include your tutorial link at the start of the doc)</a:t>
            </a:r>
          </a:p>
        </p:txBody>
      </p:sp>
    </p:spTree>
    <p:extLst>
      <p:ext uri="{BB962C8B-B14F-4D97-AF65-F5344CB8AC3E}">
        <p14:creationId xmlns:p14="http://schemas.microsoft.com/office/powerpoint/2010/main" val="1278491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FF64D-DDA0-862D-13EA-6C5D9FF8A7D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641912E-D1BA-A191-8733-47EA289FADF8}"/>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Reflection - Criteria</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09C2CA69-8F1F-4977-611D-FD427DAA6E96}"/>
              </a:ext>
            </a:extLst>
          </p:cNvPr>
          <p:cNvSpPr txBox="1"/>
          <p:nvPr/>
        </p:nvSpPr>
        <p:spPr>
          <a:xfrm>
            <a:off x="724188" y="1842645"/>
            <a:ext cx="11052341" cy="5632311"/>
          </a:xfrm>
          <a:prstGeom prst="rect">
            <a:avLst/>
          </a:prstGeom>
          <a:noFill/>
        </p:spPr>
        <p:txBody>
          <a:bodyPr wrap="square">
            <a:spAutoFit/>
          </a:bodyPr>
          <a:lstStyle/>
          <a:p>
            <a:pPr marL="457200" indent="-457200">
              <a:buFont typeface="Arial" panose="020B0604020202020204" pitchFamily="34" charset="0"/>
              <a:buChar char="•"/>
            </a:pPr>
            <a:r>
              <a:rPr lang="en-US" sz="28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Connections (25%) </a:t>
            </a:r>
            <a:r>
              <a:rPr lang="en-US" sz="3000" dirty="0">
                <a:solidFill>
                  <a:schemeClr val="accent6">
                    <a:lumMod val="50000"/>
                  </a:schemeClr>
                </a:solidFill>
                <a:latin typeface="Avenir Book" panose="02000503020000020003" pitchFamily="2" charset="0"/>
              </a:rPr>
              <a:t>– Have you connected </a:t>
            </a:r>
            <a:r>
              <a:rPr lang="en-US" sz="3000" i="1" dirty="0">
                <a:solidFill>
                  <a:schemeClr val="accent6">
                    <a:lumMod val="50000"/>
                  </a:schemeClr>
                </a:solidFill>
                <a:latin typeface="Avenir Book" panose="02000503020000020003" pitchFamily="2" charset="0"/>
              </a:rPr>
              <a:t>specific </a:t>
            </a:r>
            <a:r>
              <a:rPr lang="en-US" sz="3000" dirty="0">
                <a:solidFill>
                  <a:schemeClr val="accent6">
                    <a:lumMod val="50000"/>
                  </a:schemeClr>
                </a:solidFill>
                <a:latin typeface="Avenir Book" panose="02000503020000020003" pitchFamily="2" charset="0"/>
              </a:rPr>
              <a:t>course topics to development of your own thinking/skills</a:t>
            </a:r>
          </a:p>
          <a:p>
            <a:pPr marL="457200" indent="-457200">
              <a:buFont typeface="Arial" panose="020B0604020202020204" pitchFamily="34" charset="0"/>
              <a:buChar char="•"/>
            </a:pPr>
            <a:r>
              <a:rPr lang="en-US" sz="28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Relevance (25%) </a:t>
            </a:r>
            <a:r>
              <a:rPr lang="en-US" sz="3000" dirty="0">
                <a:solidFill>
                  <a:schemeClr val="accent6">
                    <a:lumMod val="50000"/>
                  </a:schemeClr>
                </a:solidFill>
                <a:latin typeface="Avenir Book" panose="02000503020000020003" pitchFamily="2" charset="0"/>
              </a:rPr>
              <a:t>– Have you made it clear why this is personal? Why is what you’re talking about particularly relevant to you? (e.g. connect to </a:t>
            </a:r>
            <a:r>
              <a:rPr lang="en-US" sz="3000" b="1" u="sng" dirty="0">
                <a:solidFill>
                  <a:schemeClr val="accent6">
                    <a:lumMod val="50000"/>
                  </a:schemeClr>
                </a:solidFill>
                <a:latin typeface="Avenir Book" panose="02000503020000020003" pitchFamily="2" charset="0"/>
              </a:rPr>
              <a:t>past</a:t>
            </a:r>
            <a:r>
              <a:rPr lang="en-US" sz="3000" dirty="0">
                <a:solidFill>
                  <a:schemeClr val="accent6">
                    <a:lumMod val="50000"/>
                  </a:schemeClr>
                </a:solidFill>
                <a:latin typeface="Avenir Book" panose="02000503020000020003" pitchFamily="2" charset="0"/>
              </a:rPr>
              <a:t> experiences)</a:t>
            </a:r>
          </a:p>
          <a:p>
            <a:pPr marL="457200" indent="-457200">
              <a:buFont typeface="Arial" panose="020B0604020202020204" pitchFamily="34" charset="0"/>
              <a:buChar char="•"/>
            </a:pPr>
            <a:r>
              <a:rPr lang="en-US" sz="28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Impact (25%) </a:t>
            </a:r>
            <a:r>
              <a:rPr lang="en-US" sz="3000" dirty="0">
                <a:solidFill>
                  <a:schemeClr val="accent6">
                    <a:lumMod val="50000"/>
                  </a:schemeClr>
                </a:solidFill>
                <a:latin typeface="Avenir Book" panose="02000503020000020003" pitchFamily="2" charset="0"/>
              </a:rPr>
              <a:t>– How will what you’ve learnt affect your </a:t>
            </a:r>
            <a:r>
              <a:rPr lang="en-US" sz="3000" b="1" u="sng" dirty="0">
                <a:solidFill>
                  <a:schemeClr val="accent6">
                    <a:lumMod val="50000"/>
                  </a:schemeClr>
                </a:solidFill>
                <a:latin typeface="Avenir Book" panose="02000503020000020003" pitchFamily="2" charset="0"/>
              </a:rPr>
              <a:t>future</a:t>
            </a:r>
            <a:r>
              <a:rPr lang="en-US" sz="3000" dirty="0">
                <a:solidFill>
                  <a:schemeClr val="accent6">
                    <a:lumMod val="50000"/>
                  </a:schemeClr>
                </a:solidFill>
                <a:latin typeface="Avenir Book" panose="02000503020000020003" pitchFamily="2" charset="0"/>
              </a:rPr>
              <a:t>? Will you take new ways of thinking forward into your degree/career/life?</a:t>
            </a:r>
          </a:p>
          <a:p>
            <a:pPr marL="457200" indent="-457200">
              <a:buFont typeface="Arial" panose="020B0604020202020204" pitchFamily="34" charset="0"/>
              <a:buChar char="•"/>
            </a:pPr>
            <a:r>
              <a:rPr lang="en-US" sz="28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Clarity (25%) </a:t>
            </a:r>
            <a:r>
              <a:rPr lang="en-US" sz="3000" dirty="0">
                <a:solidFill>
                  <a:schemeClr val="accent6">
                    <a:lumMod val="50000"/>
                  </a:schemeClr>
                </a:solidFill>
                <a:latin typeface="Avenir Book" panose="02000503020000020003" pitchFamily="2" charset="0"/>
              </a:rPr>
              <a:t>– Have you written clearly and professionally, and explained concepts well to a non-expert?</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726892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89A7D-4905-1B9F-BD63-7D028851CAC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99FA68B-6089-6CC7-19E3-B5DD9C60A8A3}"/>
              </a:ext>
            </a:extLst>
          </p:cNvPr>
          <p:cNvSpPr txBox="1"/>
          <p:nvPr/>
        </p:nvSpPr>
        <p:spPr>
          <a:xfrm>
            <a:off x="450318" y="385786"/>
            <a:ext cx="1304731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Reflection - Criteria</a:t>
            </a:r>
            <a:endParaRPr lang="en-GB" sz="2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3CCBAEC9-E419-5E5B-88B0-3697459542BE}"/>
              </a:ext>
            </a:extLst>
          </p:cNvPr>
          <p:cNvSpPr txBox="1"/>
          <p:nvPr/>
        </p:nvSpPr>
        <p:spPr>
          <a:xfrm>
            <a:off x="1256451" y="3207421"/>
            <a:ext cx="11052341"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Read the marking rubric in detail! This is what we mark to!!</a:t>
            </a:r>
          </a:p>
        </p:txBody>
      </p:sp>
    </p:spTree>
    <p:extLst>
      <p:ext uri="{BB962C8B-B14F-4D97-AF65-F5344CB8AC3E}">
        <p14:creationId xmlns:p14="http://schemas.microsoft.com/office/powerpoint/2010/main" val="3668950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14646</TotalTime>
  <Words>2507</Words>
  <Application>Microsoft Macintosh PowerPoint</Application>
  <PresentationFormat>Widescreen</PresentationFormat>
  <Paragraphs>319</Paragraphs>
  <Slides>76</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76</vt:i4>
      </vt:variant>
    </vt:vector>
  </HeadingPairs>
  <TitlesOfParts>
    <vt:vector size="84" baseType="lpstr">
      <vt:lpstr>Arial</vt:lpstr>
      <vt:lpstr>Avenir</vt:lpstr>
      <vt:lpstr>Avenir Black</vt:lpstr>
      <vt:lpstr>Avenir Book</vt:lpstr>
      <vt:lpstr>Avenir Heavy</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Wauchope, Hannah</dc:creator>
  <cp:lastModifiedBy>Hannah Wauchope</cp:lastModifiedBy>
  <cp:revision>36</cp:revision>
  <cp:lastPrinted>2024-11-07T14:20:12Z</cp:lastPrinted>
  <dcterms:created xsi:type="dcterms:W3CDTF">2023-10-12T09:30:13Z</dcterms:created>
  <dcterms:modified xsi:type="dcterms:W3CDTF">2025-11-11T08:56:35Z</dcterms:modified>
</cp:coreProperties>
</file>